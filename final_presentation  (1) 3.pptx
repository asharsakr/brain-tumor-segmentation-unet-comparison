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3" r:id="rId8"/>
    <p:sldId id="272" r:id="rId9"/>
    <p:sldId id="271" r:id="rId10"/>
    <p:sldId id="262" r:id="rId11"/>
    <p:sldId id="274" r:id="rId12"/>
    <p:sldId id="273" r:id="rId13"/>
    <p:sldId id="264" r:id="rId14"/>
    <p:sldId id="265" r:id="rId15"/>
    <p:sldId id="266" r:id="rId16"/>
    <p:sldId id="267" r:id="rId17"/>
    <p:sldId id="268" r:id="rId18"/>
    <p:sldId id="269" r:id="rId19"/>
    <p:sldId id="270"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4610"/>
  </p:normalViewPr>
  <p:slideViewPr>
    <p:cSldViewPr snapToGrid="0" snapToObjects="1">
      <p:cViewPr>
        <p:scale>
          <a:sx n="155" d="100"/>
          <a:sy n="155" d="100"/>
        </p:scale>
        <p:origin x="1008"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887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everyone to our presentation for the Instant ODC AI Hackathon. Our project tackles brain tumor segmentation, specifically comparing 3D and 2.5D U-Net architectures. Our team aimed to automate the precise identification of brain tumors from multi-modal MRI data. We'll dive into the technical details and trade-offs of each approach. Let's start by understanding the significant problem we're trying to 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Manual MRI segmentation is a huge bottleneck in clinical practice, consuming hours of expert time and often leading to inconsistent results. This isn't just about efficiency; it's about diagnostic accuracy and treatment planning. We're not just classifying; we need precise, voxel-level masks for clinical utility. Our hackathon objective was to build an automated, end-to-end pipeline for this complex task. So, how did we approach this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achieve this precision, we must segment three critical tumor sub-regions: the Necrotic Core, Peritumoral Edema, and the GD-enhancing Tumor. Each of these regions provides distinct clinical information. For example, the enhancing tumor shows active growth, while edema indicates surrounding tissue impact. Accurately distinguishing these regions is vital for treatment planning and prognosis. This detailed segmentation is a core challenge in medical imaging. Now, let's look at the rich dataset that allowed us to tackle this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tackle this, we leveraged the BraTS 2021 dataset, which provides rich multi-modal MRI data. Each patient has four distinct MRI sequences: FLAIR, T1, T1ce, and T2, each offering unique insights into tumor characteristics. These 3D volumes are standardized, and critically, they come with expert-annotated ground truth masks for different tumor sub-regions. This comprehensive dataset was crucial for training robust models. But before feeding this data into our models, we needed a robust preprocessing pipeline.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From the BraTS dataset, we use four distinct MRI modalities, each providing complementary diagnostic information. T1 provides baseline anatomy, while T1ce highlights active tumor growth after contrast. T2-weighted scans show water content, making edema visible, and T2-FLAIR suppresses CSF, making peritumoral edema even clearer. Combining these modalities gives our models a comprehensive view of the tumor. This multi-modal input is critical for accurate segmentation. Now, let's discuss how we prepared this data for our models.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preprocessing pipeline is crucial for consistent feature learning and model stability. We stack the four MRI modalities into a 4D tensor, giving our models a comprehensive view. The key is ROI-based Z-score standardization, where we normalize intensity values using only non-zero voxels. This prevents background noise from skewing our statistics, focusing the model on relevant brain tissue. This careful normalization is vital for robust model performance. Now, let's look at the architectures we used to process this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Building on the U-Net foundation, the 3D U-Net is designed to capture the full volumetric spatial context of MRI scans. It uses 3D convolutions and pooling layers, ensuring spatial consistency across all three dimensions. This full volumetric awareness is a key advantage for precise tumor segmentation. The architecture's symmetric encoder-decoder structure, with skip connections, helps preserve high-resolution details. But this power comes with significant computational costs, which led us to explore an alternative.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2D U-Net is a foundational architecture, but it has limitations for 3D medical images. It uses a symmetric encoder-decoder with skip connections to capture context and recover spatial details. While efficient for individual slices, it completely lacks inter-slice spatial context. This means it can't fully understand the 3D structure of a brain tumor. This limitation led us to explore more advanced architectures.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2.5D U-Net offers a smart compromise, giving us some 3D context without the heavy computational cost of a full 3D model. This approach stacks adjacent slices, creating a 'pseudo-3D' input for standard 2D convolutions. This significantly cuts down on memory and speeds up both training and inference. It's perfect for environments with limited GPU resources, giving us a great performance-to-cost ratio. Now, let's see how this stacks up against other architectures.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how do these architectures compare when we balance context and resources? We see a clear trade-off here. The 2.5D U-Net hits a sweet spot, offering medium spatial context and memory usage. It's much faster to train and infer than the full 3D U-Net, while still providing better consistency than a pure 2D approach. This makes it an optimal choice for clinical deployment, especially where GPU resources are limited. But how do we ensure stable and accurate training for these models?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ensure stable and accurate training, we needed a robust strategy. We used a hybrid loss function, combining Dice Loss with Categorical Cross-Entropy. This is crucial because Dice Loss directly optimizes for spatial overlap, which is vital for handling class imbalance in medical images. We also used the Adam optimizer with a learning rate of 1e-4, and a ReduceLROnPlateau scheduler to fine-tune weights. Our custom data generators extract patches on the fly, with 50% of samples centered on tumor regions to boost learning efficiency. This strategy helps us achieve precise tumor boundary detection, which we'll discuss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training strategy, using that hybrid loss, really paid off. We're seeing precise tumor boundary detection across the board. Both the 3D and 2.5D models are highly effective at identifying tumor boundaries, distinguishing necrotic core, edema, and enhancing tumor regions. High Dice scores on the validation set confirm this robustness. While the 3D U-Net gives us the best volumetric consistency, the 2.5D model delivers impressive results with much faster inference times. This makes it a strong candidate for real-time clinical applications. Next, let's look at how these results translate into accelerating medical AI workflows.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these results show how automated pipelines can really accelerate medical AI workflows. This end-to-end solution moves from raw NIfTI data to final mask predictions with minimal human intervention. We can process hundreds of cases in the time it would take a radiologist to manually segment just one. A key finding was the critical importance of ROI-based Z-score normalization in handling MRI intensity variations. And the success of the 2.5D U-Net highlights that high-quality medical segmentation doesn't always need the most computationally expensive 3D models. Now, let's talk about where we go from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Looking ahead, our future work focuses on optimization and clinical integration. We plan to explore model ensembling techniques, combining the strengths of both 2.5D and 3D architectures. We'll also implement post-processing steps, like connected component analysis, to refine masks by removing small false-positive clusters. To make this technology more accessible, we're considering a Streamlit-based web interface for real-time interaction. Additionally, we'll investigate advanced architectures like Attention U-Net or Swin UNETR and seek clinical validation on external datasets to ensure reliability in diverse real-world settings.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We've covered a lot today, from our technical approach to the promising results and future directions. This project, a true hackathon effort, wouldn't have been possible without the dedication of our team: Malak Osama, Dolagy George, Alya Marwan, Nada Mohammed, and Ashar Salama. We're excited about the potential of this work. Thank you for your attention. We're happy to take any questions you might have.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1306441"/>
            <a:ext cx="4914900" cy="1508727"/>
          </a:xfrm>
          <a:prstGeom prst="rect">
            <a:avLst/>
          </a:prstGeom>
          <a:noFill/>
          <a:ln/>
        </p:spPr>
        <p:txBody>
          <a:bodyPr wrap="square" lIns="0" tIns="0" rIns="0" bIns="0" rtlCol="0" anchor="t">
            <a:spAutoFit/>
          </a:bodyPr>
          <a:lstStyle/>
          <a:p>
            <a:pPr marL="0" indent="0" algn="l">
              <a:lnSpc>
                <a:spcPts val="4000"/>
              </a:lnSpc>
              <a:buNone/>
            </a:pPr>
            <a:r>
              <a:rPr lang="en-US" sz="3294" b="1" dirty="0">
                <a:solidFill>
                  <a:srgbClr val="1A1A1A"/>
                </a:solidFill>
              </a:rPr>
              <a:t>Brain Tumor Sub-Region Segmentation</a:t>
            </a:r>
            <a:endParaRPr lang="en-US" sz="3294" dirty="0"/>
          </a:p>
        </p:txBody>
      </p:sp>
      <p:sp>
        <p:nvSpPr>
          <p:cNvPr id="5" name="Text 1"/>
          <p:cNvSpPr/>
          <p:nvPr/>
        </p:nvSpPr>
        <p:spPr>
          <a:xfrm>
            <a:off x="571500" y="3043768"/>
            <a:ext cx="4914900" cy="312539"/>
          </a:xfrm>
          <a:prstGeom prst="rect">
            <a:avLst/>
          </a:prstGeom>
          <a:noFill/>
          <a:ln/>
        </p:spPr>
        <p:txBody>
          <a:bodyPr wrap="none" lIns="0" tIns="0" rIns="0" bIns="0" rtlCol="0" anchor="t">
            <a:spAutoFit/>
          </a:bodyPr>
          <a:lstStyle/>
          <a:p>
            <a:pPr marL="0" indent="0" algn="l">
              <a:lnSpc>
                <a:spcPts val="2200"/>
              </a:lnSpc>
              <a:buNone/>
            </a:pPr>
            <a:r>
              <a:rPr lang="en-US" sz="1704" dirty="0">
                <a:solidFill>
                  <a:srgbClr val="0052CC"/>
                </a:solidFill>
              </a:rPr>
              <a:t>Instant ODC AI Hackathon Project</a:t>
            </a:r>
            <a:endParaRPr lang="en-US" sz="1704" dirty="0"/>
          </a:p>
        </p:txBody>
      </p:sp>
      <p:sp>
        <p:nvSpPr>
          <p:cNvPr id="6" name="Text 2"/>
          <p:cNvSpPr/>
          <p:nvPr/>
        </p:nvSpPr>
        <p:spPr>
          <a:xfrm>
            <a:off x="571500" y="3742069"/>
            <a:ext cx="42862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33333"/>
                </a:solidFill>
              </a:rPr>
              <a:t>Team Members:</a:t>
            </a:r>
            <a:endParaRPr lang="en-US" sz="987" dirty="0"/>
          </a:p>
        </p:txBody>
      </p:sp>
      <p:sp>
        <p:nvSpPr>
          <p:cNvPr id="7" name="Text 3"/>
          <p:cNvSpPr/>
          <p:nvPr/>
        </p:nvSpPr>
        <p:spPr>
          <a:xfrm>
            <a:off x="571500" y="3993886"/>
            <a:ext cx="4286250" cy="360034"/>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666666"/>
                </a:solidFill>
              </a:rPr>
              <a:t>Malak Osama • Dolagy George • Alya Marwan
 Nada Mohammed • Ashar Salama</a:t>
            </a:r>
            <a:endParaRPr lang="en-US" sz="942" dirty="0"/>
          </a:p>
        </p:txBody>
      </p:sp>
      <p:sp>
        <p:nvSpPr>
          <p:cNvPr id="8" name="Shape 4"/>
          <p:cNvSpPr/>
          <p:nvPr/>
        </p:nvSpPr>
        <p:spPr>
          <a:xfrm>
            <a:off x="5486400" y="0"/>
            <a:ext cx="3657600" cy="5143500"/>
          </a:xfrm>
          <a:prstGeom prst="rect">
            <a:avLst/>
          </a:prstGeom>
          <a:solidFill>
            <a:srgbClr val="1A1A1A"/>
          </a:solidFill>
          <a:ln/>
        </p:spPr>
        <p:txBody>
          <a:bodyPr/>
          <a:lstStyle/>
          <a:p>
            <a:endParaRPr lang="en-EG"/>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4" name="Text 0"/>
          <p:cNvSpPr/>
          <p:nvPr/>
        </p:nvSpPr>
        <p:spPr>
          <a:xfrm>
            <a:off x="628650" y="67550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Manual MRI Segmentation is a Critical Clinical Bottleneck</a:t>
            </a:r>
            <a:endParaRPr lang="en-US" sz="1602" dirty="0"/>
          </a:p>
        </p:txBody>
      </p:sp>
      <p:sp>
        <p:nvSpPr>
          <p:cNvPr id="5" name="Text 1"/>
          <p:cNvSpPr/>
          <p:nvPr/>
        </p:nvSpPr>
        <p:spPr>
          <a:xfrm>
            <a:off x="628650" y="1477807"/>
            <a:ext cx="38290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The Problem</a:t>
            </a:r>
            <a:endParaRPr lang="en-US" sz="683" dirty="0"/>
          </a:p>
        </p:txBody>
      </p:sp>
      <p:sp>
        <p:nvSpPr>
          <p:cNvPr id="6" name="Text 2"/>
          <p:cNvSpPr/>
          <p:nvPr/>
        </p:nvSpPr>
        <p:spPr>
          <a:xfrm>
            <a:off x="628650" y="1784989"/>
            <a:ext cx="38290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Life-Threatening Conditions</a:t>
            </a:r>
            <a:endParaRPr lang="en-US" sz="1193" dirty="0"/>
          </a:p>
        </p:txBody>
      </p:sp>
      <p:sp>
        <p:nvSpPr>
          <p:cNvPr id="7" name="Text 3"/>
          <p:cNvSpPr/>
          <p:nvPr/>
        </p:nvSpPr>
        <p:spPr>
          <a:xfrm>
            <a:off x="628650" y="2147534"/>
            <a:ext cx="382905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Brain tumors are among the most life-threatening neurological conditions. Early and precise diagnosis directly impacts patient survival and treatment planning, yet manual assessment remains a significant challenge.</a:t>
            </a:r>
            <a:endParaRPr lang="en-US" sz="942" dirty="0"/>
          </a:p>
        </p:txBody>
      </p:sp>
      <p:sp>
        <p:nvSpPr>
          <p:cNvPr id="8" name="Text 4"/>
          <p:cNvSpPr/>
          <p:nvPr/>
        </p:nvSpPr>
        <p:spPr>
          <a:xfrm>
            <a:off x="628650" y="3227580"/>
            <a:ext cx="38290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The Bottleneck</a:t>
            </a:r>
            <a:endParaRPr lang="en-US" sz="683" dirty="0"/>
          </a:p>
        </p:txBody>
      </p:sp>
      <p:sp>
        <p:nvSpPr>
          <p:cNvPr id="9" name="Text 5"/>
          <p:cNvSpPr/>
          <p:nvPr/>
        </p:nvSpPr>
        <p:spPr>
          <a:xfrm>
            <a:off x="628650" y="3534761"/>
            <a:ext cx="38290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Subjective Manual Analysis</a:t>
            </a:r>
            <a:endParaRPr lang="en-US" sz="1193" dirty="0"/>
          </a:p>
        </p:txBody>
      </p:sp>
      <p:sp>
        <p:nvSpPr>
          <p:cNvPr id="10" name="Text 6"/>
          <p:cNvSpPr/>
          <p:nvPr/>
        </p:nvSpPr>
        <p:spPr>
          <a:xfrm>
            <a:off x="628650" y="3897306"/>
            <a:ext cx="38290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MRI is the primary imaging modality, but manual segmentation of tumor regions is time-consuming, subjective, and requires expert radiologists who are often overburdened.</a:t>
            </a:r>
            <a:endParaRPr lang="en-US" sz="942" dirty="0"/>
          </a:p>
        </p:txBody>
      </p:sp>
      <p:sp>
        <p:nvSpPr>
          <p:cNvPr id="11" name="Text 7"/>
          <p:cNvSpPr/>
          <p:nvPr/>
        </p:nvSpPr>
        <p:spPr>
          <a:xfrm>
            <a:off x="4800600" y="1477807"/>
            <a:ext cx="38290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The Solution</a:t>
            </a:r>
            <a:endParaRPr lang="en-US" sz="683" dirty="0"/>
          </a:p>
        </p:txBody>
      </p:sp>
      <p:sp>
        <p:nvSpPr>
          <p:cNvPr id="12" name="Text 8"/>
          <p:cNvSpPr/>
          <p:nvPr/>
        </p:nvSpPr>
        <p:spPr>
          <a:xfrm>
            <a:off x="4800600" y="1784989"/>
            <a:ext cx="38290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Automated AI Workflows</a:t>
            </a:r>
            <a:endParaRPr lang="en-US" sz="1193" dirty="0"/>
          </a:p>
        </p:txBody>
      </p:sp>
      <p:sp>
        <p:nvSpPr>
          <p:cNvPr id="13" name="Text 9"/>
          <p:cNvSpPr/>
          <p:nvPr/>
        </p:nvSpPr>
        <p:spPr>
          <a:xfrm>
            <a:off x="4800600" y="2147534"/>
            <a:ext cx="382905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This project focuses on automating the segmentation of three critical tumor sub-regions — Edema, Enhancing Tumor, and Necrotic Core — using deep learning to improve accuracy, efficiency, and clinical support.</a:t>
            </a:r>
            <a:endParaRPr lang="en-US" sz="942" dirty="0"/>
          </a:p>
        </p:txBody>
      </p:sp>
      <p:sp>
        <p:nvSpPr>
          <p:cNvPr id="14" name="Text 10"/>
          <p:cNvSpPr/>
          <p:nvPr/>
        </p:nvSpPr>
        <p:spPr>
          <a:xfrm>
            <a:off x="4800600" y="3227580"/>
            <a:ext cx="38290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Key Challenges</a:t>
            </a:r>
            <a:endParaRPr lang="en-US" sz="683" dirty="0"/>
          </a:p>
        </p:txBody>
      </p:sp>
      <p:sp>
        <p:nvSpPr>
          <p:cNvPr id="15" name="Text 11"/>
          <p:cNvSpPr/>
          <p:nvPr/>
        </p:nvSpPr>
        <p:spPr>
          <a:xfrm>
            <a:off x="4800600" y="3491898"/>
            <a:ext cx="382905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 Class imbalance (tumor vs background)
 • Similar intensity among tissues
 • High computational cost for 3D data
 • Overfitting risk in medical imaging</a:t>
            </a: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The Challenge: Segmenting Three Critical Tumor Sub-Regions</a:t>
            </a:r>
            <a:endParaRPr lang="en-US" sz="1602" dirty="0"/>
          </a:p>
        </p:txBody>
      </p:sp>
      <p:sp>
        <p:nvSpPr>
          <p:cNvPr id="5" name="Text 1"/>
          <p:cNvSpPr/>
          <p:nvPr/>
        </p:nvSpPr>
        <p:spPr>
          <a:xfrm>
            <a:off x="571500" y="1363507"/>
            <a:ext cx="329910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4D4D"/>
                </a:solidFill>
              </a:rPr>
              <a:t>Label 1</a:t>
            </a:r>
            <a:endParaRPr lang="en-US" sz="584" dirty="0"/>
          </a:p>
        </p:txBody>
      </p:sp>
      <p:sp>
        <p:nvSpPr>
          <p:cNvPr id="6" name="Text 2"/>
          <p:cNvSpPr/>
          <p:nvPr/>
        </p:nvSpPr>
        <p:spPr>
          <a:xfrm>
            <a:off x="571500" y="1636756"/>
            <a:ext cx="329910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Necrotic Tumor Core (NCR)</a:t>
            </a:r>
            <a:endParaRPr lang="en-US" sz="1090" dirty="0"/>
          </a:p>
        </p:txBody>
      </p:sp>
      <p:sp>
        <p:nvSpPr>
          <p:cNvPr id="7" name="Text 3"/>
          <p:cNvSpPr/>
          <p:nvPr/>
        </p:nvSpPr>
        <p:spPr>
          <a:xfrm>
            <a:off x="571500" y="1965368"/>
            <a:ext cx="3299101"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The innermost part where cells have died due to lack of blood supply. It appears irregular and indicates severe tumor progression.</a:t>
            </a:r>
            <a:endParaRPr lang="en-US" sz="834" dirty="0"/>
          </a:p>
        </p:txBody>
      </p:sp>
      <p:sp>
        <p:nvSpPr>
          <p:cNvPr id="8" name="Text 4"/>
          <p:cNvSpPr/>
          <p:nvPr/>
        </p:nvSpPr>
        <p:spPr>
          <a:xfrm>
            <a:off x="571500" y="2636881"/>
            <a:ext cx="329910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4D4D"/>
                </a:solidFill>
              </a:rPr>
              <a:t>Label 2</a:t>
            </a:r>
            <a:endParaRPr lang="en-US" sz="584" dirty="0"/>
          </a:p>
        </p:txBody>
      </p:sp>
      <p:sp>
        <p:nvSpPr>
          <p:cNvPr id="9" name="Text 5"/>
          <p:cNvSpPr/>
          <p:nvPr/>
        </p:nvSpPr>
        <p:spPr>
          <a:xfrm>
            <a:off x="571500" y="2910129"/>
            <a:ext cx="329910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Peritumoral Edema (ED)</a:t>
            </a:r>
            <a:endParaRPr lang="en-US" sz="1090" dirty="0"/>
          </a:p>
        </p:txBody>
      </p:sp>
      <p:sp>
        <p:nvSpPr>
          <p:cNvPr id="10" name="Text 6"/>
          <p:cNvSpPr/>
          <p:nvPr/>
        </p:nvSpPr>
        <p:spPr>
          <a:xfrm>
            <a:off x="571500" y="3238742"/>
            <a:ext cx="3299101"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Swollen region around the tumor caused by fluid accumulation. It shows the tumor's impact on surrounding brain tissue and pressure.</a:t>
            </a:r>
            <a:endParaRPr lang="en-US" sz="834" dirty="0"/>
          </a:p>
        </p:txBody>
      </p:sp>
      <p:sp>
        <p:nvSpPr>
          <p:cNvPr id="11" name="Text 7"/>
          <p:cNvSpPr/>
          <p:nvPr/>
        </p:nvSpPr>
        <p:spPr>
          <a:xfrm>
            <a:off x="571500" y="3910254"/>
            <a:ext cx="329910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4D4D"/>
                </a:solidFill>
              </a:rPr>
              <a:t>Label 4</a:t>
            </a:r>
            <a:endParaRPr lang="en-US" sz="584" dirty="0"/>
          </a:p>
        </p:txBody>
      </p:sp>
      <p:sp>
        <p:nvSpPr>
          <p:cNvPr id="12" name="Text 8"/>
          <p:cNvSpPr/>
          <p:nvPr/>
        </p:nvSpPr>
        <p:spPr>
          <a:xfrm>
            <a:off x="571500" y="4183503"/>
            <a:ext cx="3299101"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GD-enhancing Tumor (ET)</a:t>
            </a:r>
            <a:endParaRPr lang="en-US" sz="1090" dirty="0"/>
          </a:p>
        </p:txBody>
      </p:sp>
      <p:sp>
        <p:nvSpPr>
          <p:cNvPr id="13" name="Text 9"/>
          <p:cNvSpPr/>
          <p:nvPr/>
        </p:nvSpPr>
        <p:spPr>
          <a:xfrm>
            <a:off x="571500" y="4512115"/>
            <a:ext cx="3299101"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The active, growing region that enhances after contrast injection. It represents viable tumor tissue and aggressiveness.</a:t>
            </a:r>
            <a:endParaRPr lang="en-US" sz="834" dirty="0"/>
          </a:p>
        </p:txBody>
      </p:sp>
      <p:sp>
        <p:nvSpPr>
          <p:cNvPr id="14" name="Text 10"/>
          <p:cNvSpPr/>
          <p:nvPr/>
        </p:nvSpPr>
        <p:spPr>
          <a:xfrm>
            <a:off x="4156351" y="1120620"/>
            <a:ext cx="4987649" cy="3991570"/>
          </a:xfrm>
          <a:prstGeom prst="rect">
            <a:avLst/>
          </a:prstGeom>
          <a:noFill/>
          <a:ln/>
        </p:spPr>
        <p:txBody>
          <a:bodyPr wrap="square" lIns="0" tIns="136017" rIns="680339" bIns="0" rtlCol="0" anchor="t">
            <a:spAutoFit/>
          </a:bodyPr>
          <a:lstStyle/>
          <a:p>
            <a:pPr marL="0" indent="0" algn="l">
              <a:lnSpc>
                <a:spcPts val="1100"/>
              </a:lnSpc>
              <a:buNone/>
            </a:pP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BraTS 2021: A Benchmark for Volumetric Segmentation</a:t>
            </a:r>
            <a:endParaRPr lang="en-US" sz="1602" dirty="0"/>
          </a:p>
        </p:txBody>
      </p:sp>
      <p:sp>
        <p:nvSpPr>
          <p:cNvPr id="5" name="Text 1"/>
          <p:cNvSpPr/>
          <p:nvPr/>
        </p:nvSpPr>
        <p:spPr>
          <a:xfrm>
            <a:off x="571500" y="1422304"/>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Dataset Composition</a:t>
            </a:r>
            <a:endParaRPr lang="en-US" sz="683" dirty="0"/>
          </a:p>
        </p:txBody>
      </p:sp>
      <p:sp>
        <p:nvSpPr>
          <p:cNvPr id="6" name="Text 2"/>
          <p:cNvSpPr/>
          <p:nvPr/>
        </p:nvSpPr>
        <p:spPr>
          <a:xfrm>
            <a:off x="571500" y="1729485"/>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Multi-Modal 3D Volumes</a:t>
            </a:r>
            <a:endParaRPr lang="en-US" sz="1193" dirty="0"/>
          </a:p>
        </p:txBody>
      </p:sp>
      <p:sp>
        <p:nvSpPr>
          <p:cNvPr id="7" name="Text 3"/>
          <p:cNvSpPr/>
          <p:nvPr/>
        </p:nvSpPr>
        <p:spPr>
          <a:xfrm>
            <a:off x="571500" y="2092030"/>
            <a:ext cx="329910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The dataset consists of co-registered MRI scans (T1, T1ce, T2, FLAIR) for each patient. Each volume is standardized to a shape of 240x240x155 voxels.</a:t>
            </a:r>
            <a:endParaRPr lang="en-US" sz="942" dirty="0"/>
          </a:p>
        </p:txBody>
      </p:sp>
      <p:sp>
        <p:nvSpPr>
          <p:cNvPr id="8" name="Text 4"/>
          <p:cNvSpPr/>
          <p:nvPr/>
        </p:nvSpPr>
        <p:spPr>
          <a:xfrm>
            <a:off x="571500" y="2952071"/>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Segmentation Targets</a:t>
            </a:r>
            <a:endParaRPr lang="en-US" sz="683" dirty="0"/>
          </a:p>
        </p:txBody>
      </p:sp>
      <p:sp>
        <p:nvSpPr>
          <p:cNvPr id="9" name="Text 5"/>
          <p:cNvSpPr/>
          <p:nvPr/>
        </p:nvSpPr>
        <p:spPr>
          <a:xfrm>
            <a:off x="571500" y="3259252"/>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Expert-Annotated Labels</a:t>
            </a:r>
            <a:endParaRPr lang="en-US" sz="1193" dirty="0"/>
          </a:p>
        </p:txBody>
      </p:sp>
      <p:sp>
        <p:nvSpPr>
          <p:cNvPr id="10" name="Text 6"/>
          <p:cNvSpPr/>
          <p:nvPr/>
        </p:nvSpPr>
        <p:spPr>
          <a:xfrm>
            <a:off x="571500" y="3621798"/>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Ground truth masks include Label 1 (Necrotic Core), Label 2 (Edema), and Label 4 (Enhancing Tumor). Note the absence of Label 3 in the original BraTS specification.</a:t>
            </a:r>
            <a:endParaRPr lang="en-US" sz="942" dirty="0"/>
          </a:p>
        </p:txBody>
      </p:sp>
      <p:sp>
        <p:nvSpPr>
          <p:cNvPr id="11" name="Text 7"/>
          <p:cNvSpPr/>
          <p:nvPr/>
        </p:nvSpPr>
        <p:spPr>
          <a:xfrm>
            <a:off x="571500" y="4587543"/>
            <a:ext cx="3299101" cy="411435"/>
          </a:xfrm>
          <a:prstGeom prst="rect">
            <a:avLst/>
          </a:prstGeom>
          <a:noFill/>
          <a:ln/>
        </p:spPr>
        <p:txBody>
          <a:bodyPr wrap="square" lIns="0" tIns="0" rIns="0" bIns="0" rtlCol="0" anchor="t">
            <a:spAutoFit/>
          </a:bodyPr>
          <a:lstStyle/>
          <a:p>
            <a:pPr marL="0" indent="0" algn="l">
              <a:lnSpc>
                <a:spcPts val="1600"/>
              </a:lnSpc>
              <a:buNone/>
            </a:pPr>
            <a:r>
              <a:rPr lang="en-US" sz="942" i="1" dirty="0">
                <a:solidFill>
                  <a:srgbClr val="333333"/>
                </a:solidFill>
              </a:rPr>
              <a:t>Significant class imbalance exists between the background and the relatively small tumor sub-regions.</a:t>
            </a:r>
            <a:endParaRPr lang="en-US" sz="942" dirty="0"/>
          </a:p>
        </p:txBody>
      </p:sp>
      <p:pic>
        <p:nvPicPr>
          <p:cNvPr id="12" name="Image 1" descr="preencoded.png"/>
          <p:cNvPicPr>
            <a:picLocks noChangeAspect="1"/>
          </p:cNvPicPr>
          <p:nvPr/>
        </p:nvPicPr>
        <p:blipFill>
          <a:blip r:embed="rId4"/>
          <a:stretch>
            <a:fillRect/>
          </a:stretch>
        </p:blipFill>
        <p:spPr>
          <a:xfrm>
            <a:off x="4214143" y="1322291"/>
            <a:ext cx="4300538" cy="2871788"/>
          </a:xfrm>
          <a:prstGeom prst="rect">
            <a:avLst/>
          </a:prstGeom>
        </p:spPr>
      </p:pic>
      <p:sp>
        <p:nvSpPr>
          <p:cNvPr id="13" name="Text 8"/>
          <p:cNvSpPr/>
          <p:nvPr/>
        </p:nvSpPr>
        <p:spPr>
          <a:xfrm>
            <a:off x="4888585" y="4294091"/>
            <a:ext cx="2951680" cy="192881"/>
          </a:xfrm>
          <a:prstGeom prst="rect">
            <a:avLst/>
          </a:prstGeom>
          <a:noFill/>
          <a:ln/>
        </p:spPr>
        <p:txBody>
          <a:bodyPr wrap="square" lIns="0" tIns="68072" rIns="0" bIns="0" rtlCol="0" anchor="t">
            <a:spAutoFit/>
          </a:bodyPr>
          <a:lstStyle/>
          <a:p>
            <a:pPr marL="0" indent="0" algn="ctr">
              <a:lnSpc>
                <a:spcPts val="900"/>
              </a:lnSpc>
              <a:buNone/>
            </a:pPr>
            <a:r>
              <a:rPr lang="en-US" sz="727" dirty="0">
                <a:solidFill>
                  <a:srgbClr val="333333"/>
                </a:solidFill>
              </a:rPr>
              <a:t>Multi-modal MRI inputs and corresponding tumor sub-regions.</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236280"/>
            <a:ext cx="9029700" cy="5143500"/>
          </a:xfrm>
          <a:prstGeom prst="rect">
            <a:avLst/>
          </a:prstGeom>
        </p:spPr>
      </p:pic>
      <p:sp>
        <p:nvSpPr>
          <p:cNvPr id="4" name="Text 0"/>
          <p:cNvSpPr/>
          <p:nvPr/>
        </p:nvSpPr>
        <p:spPr>
          <a:xfrm>
            <a:off x="628650" y="67550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Multi-Modal MRI: Complementary Diagnostic Information</a:t>
            </a:r>
            <a:endParaRPr lang="en-US" sz="1602" dirty="0"/>
          </a:p>
        </p:txBody>
      </p:sp>
      <p:sp>
        <p:nvSpPr>
          <p:cNvPr id="5" name="Text 1"/>
          <p:cNvSpPr/>
          <p:nvPr/>
        </p:nvSpPr>
        <p:spPr>
          <a:xfrm>
            <a:off x="628650" y="1642588"/>
            <a:ext cx="329910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Native (T1)</a:t>
            </a:r>
            <a:endParaRPr lang="en-US" sz="987" dirty="0"/>
          </a:p>
        </p:txBody>
      </p:sp>
      <p:sp>
        <p:nvSpPr>
          <p:cNvPr id="6" name="Text 2"/>
          <p:cNvSpPr/>
          <p:nvPr/>
        </p:nvSpPr>
        <p:spPr>
          <a:xfrm>
            <a:off x="628650" y="1944412"/>
            <a:ext cx="329910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333333"/>
                </a:solidFill>
              </a:rPr>
              <a:t>Baseline anatomical scan; high spatial resolution. Used as a structural reference for brain morphology.</a:t>
            </a:r>
            <a:endParaRPr lang="en-US" sz="780" dirty="0"/>
          </a:p>
        </p:txBody>
      </p:sp>
      <p:sp>
        <p:nvSpPr>
          <p:cNvPr id="7" name="Text 3"/>
          <p:cNvSpPr/>
          <p:nvPr/>
        </p:nvSpPr>
        <p:spPr>
          <a:xfrm>
            <a:off x="628650" y="2544487"/>
            <a:ext cx="329910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Post-contrast (T1ce)</a:t>
            </a:r>
            <a:endParaRPr lang="en-US" sz="987" dirty="0"/>
          </a:p>
        </p:txBody>
      </p:sp>
      <p:sp>
        <p:nvSpPr>
          <p:cNvPr id="8" name="Text 4"/>
          <p:cNvSpPr/>
          <p:nvPr/>
        </p:nvSpPr>
        <p:spPr>
          <a:xfrm>
            <a:off x="628650" y="2846310"/>
            <a:ext cx="329910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333333"/>
                </a:solidFill>
              </a:rPr>
              <a:t>Highlights blood-brain barrier disruption. Essential for delineating active tumor margins.</a:t>
            </a:r>
            <a:endParaRPr lang="en-US" sz="780" dirty="0"/>
          </a:p>
        </p:txBody>
      </p:sp>
      <p:sp>
        <p:nvSpPr>
          <p:cNvPr id="9" name="Text 5"/>
          <p:cNvSpPr/>
          <p:nvPr/>
        </p:nvSpPr>
        <p:spPr>
          <a:xfrm>
            <a:off x="628650" y="3446385"/>
            <a:ext cx="3299101"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T2-weighted (T2)</a:t>
            </a:r>
            <a:endParaRPr lang="en-US" sz="987" dirty="0"/>
          </a:p>
        </p:txBody>
      </p:sp>
      <p:sp>
        <p:nvSpPr>
          <p:cNvPr id="10" name="Text 6"/>
          <p:cNvSpPr/>
          <p:nvPr/>
        </p:nvSpPr>
        <p:spPr>
          <a:xfrm>
            <a:off x="628650" y="3748208"/>
            <a:ext cx="329910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333333"/>
                </a:solidFill>
              </a:rPr>
              <a:t>Sensitive to water content; fluids and edema appear bright. Defines lesion extent relative to brain tissue.</a:t>
            </a:r>
            <a:endParaRPr lang="en-US" sz="780" dirty="0"/>
          </a:p>
        </p:txBody>
      </p:sp>
      <p:sp>
        <p:nvSpPr>
          <p:cNvPr id="11" name="Text 7"/>
          <p:cNvSpPr/>
          <p:nvPr/>
        </p:nvSpPr>
        <p:spPr>
          <a:xfrm>
            <a:off x="628650" y="4348283"/>
            <a:ext cx="291747" cy="16805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FLAIR</a:t>
            </a:r>
            <a:endParaRPr lang="en-US" sz="987" dirty="0"/>
          </a:p>
        </p:txBody>
      </p:sp>
      <p:sp>
        <p:nvSpPr>
          <p:cNvPr id="12" name="Text 8"/>
          <p:cNvSpPr/>
          <p:nvPr/>
        </p:nvSpPr>
        <p:spPr>
          <a:xfrm>
            <a:off x="628650" y="4650107"/>
            <a:ext cx="329910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333333"/>
                </a:solidFill>
              </a:rPr>
              <a:t>Suppresses free fluid (CSF). Makes peritumoral edema and swelling more conspicuous.</a:t>
            </a:r>
            <a:endParaRPr lang="en-US" sz="780" dirty="0"/>
          </a:p>
        </p:txBody>
      </p:sp>
      <p:sp>
        <p:nvSpPr>
          <p:cNvPr id="2" name="TextBox 1">
            <a:extLst>
              <a:ext uri="{FF2B5EF4-FFF2-40B4-BE49-F238E27FC236}">
                <a16:creationId xmlns:a16="http://schemas.microsoft.com/office/drawing/2014/main" id="{0156A198-F1CF-21F3-DBD7-CCD6B3FDEC9E}"/>
              </a:ext>
            </a:extLst>
          </p:cNvPr>
          <p:cNvSpPr txBox="1"/>
          <p:nvPr/>
        </p:nvSpPr>
        <p:spPr>
          <a:xfrm>
            <a:off x="4182894" y="1586951"/>
            <a:ext cx="4332456" cy="1929759"/>
          </a:xfrm>
          <a:prstGeom prst="rect">
            <a:avLst/>
          </a:prstGeom>
          <a:noFill/>
        </p:spPr>
        <p:txBody>
          <a:bodyPr wrap="square" rtlCol="0">
            <a:spAutoFit/>
          </a:bodyPr>
          <a:lstStyle/>
          <a:p>
            <a:r>
              <a:rPr lang="en-US" sz="780" b="1" dirty="0">
                <a:solidFill>
                  <a:srgbClr val="333333"/>
                </a:solidFill>
              </a:rPr>
              <a:t>2D</a:t>
            </a:r>
          </a:p>
          <a:p>
            <a:pPr marL="171450" indent="-171450">
              <a:buFont typeface="Arial" panose="020B0604020202020204" pitchFamily="34" charset="0"/>
              <a:buChar char="•"/>
            </a:pPr>
            <a:r>
              <a:rPr lang="en-US" sz="780" dirty="0">
                <a:solidFill>
                  <a:srgbClr val="333333"/>
                </a:solidFill>
              </a:rPr>
              <a:t>﻿﻿Fast</a:t>
            </a:r>
          </a:p>
          <a:p>
            <a:pPr marL="171450" indent="-171450">
              <a:buFont typeface="Arial" panose="020B0604020202020204" pitchFamily="34" charset="0"/>
              <a:buChar char="•"/>
            </a:pPr>
            <a:r>
              <a:rPr lang="en-US" sz="780" dirty="0">
                <a:solidFill>
                  <a:srgbClr val="333333"/>
                </a:solidFill>
              </a:rPr>
              <a:t>﻿﻿Loses depth context</a:t>
            </a:r>
          </a:p>
          <a:p>
            <a:r>
              <a:rPr lang="en-US" sz="780" b="1" dirty="0">
                <a:solidFill>
                  <a:srgbClr val="333333"/>
                </a:solidFill>
              </a:rPr>
              <a:t>3D</a:t>
            </a:r>
          </a:p>
          <a:p>
            <a:pPr marL="171450" indent="-171450">
              <a:buFont typeface="Arial" panose="020B0604020202020204" pitchFamily="34" charset="0"/>
              <a:buChar char="•"/>
            </a:pPr>
            <a:r>
              <a:rPr lang="en-US" sz="780" dirty="0">
                <a:solidFill>
                  <a:srgbClr val="333333"/>
                </a:solidFill>
              </a:rPr>
              <a:t>﻿﻿Full spatial info</a:t>
            </a:r>
          </a:p>
          <a:p>
            <a:pPr marL="171450" indent="-171450">
              <a:buFont typeface="Arial" panose="020B0604020202020204" pitchFamily="34" charset="0"/>
              <a:buChar char="•"/>
            </a:pPr>
            <a:r>
              <a:rPr lang="en-US" sz="780" dirty="0">
                <a:solidFill>
                  <a:srgbClr val="333333"/>
                </a:solidFill>
              </a:rPr>
              <a:t>﻿﻿High memory usage</a:t>
            </a:r>
          </a:p>
          <a:p>
            <a:r>
              <a:rPr lang="en-US" sz="780" b="1" dirty="0">
                <a:solidFill>
                  <a:srgbClr val="333333"/>
                </a:solidFill>
              </a:rPr>
              <a:t>2.5D</a:t>
            </a:r>
          </a:p>
          <a:p>
            <a:pPr marL="171450" indent="-171450">
              <a:buFont typeface="Arial" panose="020B0604020202020204" pitchFamily="34" charset="0"/>
              <a:buChar char="•"/>
            </a:pPr>
            <a:r>
              <a:rPr lang="en-US" sz="780" dirty="0">
                <a:solidFill>
                  <a:srgbClr val="333333"/>
                </a:solidFill>
              </a:rPr>
              <a:t>﻿﻿Captures adjacent slices, efficient</a:t>
            </a:r>
          </a:p>
          <a:p>
            <a:pPr marL="171450" indent="-171450">
              <a:buFont typeface="Arial" panose="020B0604020202020204" pitchFamily="34" charset="0"/>
              <a:buChar char="•"/>
            </a:pPr>
            <a:r>
              <a:rPr lang="en-US" sz="780" dirty="0">
                <a:solidFill>
                  <a:srgbClr val="333333"/>
                </a:solidFill>
              </a:rPr>
              <a:t>﻿﻿Slightly less context than 3D</a:t>
            </a:r>
          </a:p>
          <a:p>
            <a:r>
              <a:rPr lang="en-US" sz="780" b="1" dirty="0">
                <a:solidFill>
                  <a:srgbClr val="333333"/>
                </a:solidFill>
              </a:rPr>
              <a:t>Why 2.5D U-Net?</a:t>
            </a:r>
          </a:p>
          <a:p>
            <a:r>
              <a:rPr lang="en-US" sz="780" dirty="0">
                <a:solidFill>
                  <a:srgbClr val="333333"/>
                </a:solidFill>
              </a:rPr>
              <a:t>Input: slice k-1, k, k+1 stacked as channels Retains spatial info without heavy memory cost</a:t>
            </a:r>
          </a:p>
          <a:p>
            <a:r>
              <a:rPr lang="en-US" sz="780" dirty="0">
                <a:solidFill>
                  <a:srgbClr val="333333"/>
                </a:solidFill>
              </a:rPr>
              <a:t>2.5D U-Net captures inter-slice context, which is critical for accurate segmentation, while avoiding the computational demands of full 3D models.</a:t>
            </a:r>
          </a:p>
          <a:p>
            <a:endParaRPr lang="en-E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611209"/>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ROI-Based Normalization Ensures Consistent Feature Learning</a:t>
            </a:r>
            <a:endParaRPr lang="en-US" sz="1602" dirty="0"/>
          </a:p>
        </p:txBody>
      </p:sp>
      <p:sp>
        <p:nvSpPr>
          <p:cNvPr id="5" name="Text 1"/>
          <p:cNvSpPr/>
          <p:nvPr/>
        </p:nvSpPr>
        <p:spPr>
          <a:xfrm>
            <a:off x="571500" y="1919464"/>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Step 01</a:t>
            </a:r>
            <a:endParaRPr lang="en-US" sz="683" dirty="0"/>
          </a:p>
        </p:txBody>
      </p:sp>
      <p:sp>
        <p:nvSpPr>
          <p:cNvPr id="6" name="Text 2"/>
          <p:cNvSpPr/>
          <p:nvPr/>
        </p:nvSpPr>
        <p:spPr>
          <a:xfrm>
            <a:off x="571500" y="2226645"/>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Data Loading &amp; Stacking</a:t>
            </a:r>
            <a:endParaRPr lang="en-US" sz="1193" dirty="0"/>
          </a:p>
        </p:txBody>
      </p:sp>
      <p:sp>
        <p:nvSpPr>
          <p:cNvPr id="7" name="Text 3"/>
          <p:cNvSpPr/>
          <p:nvPr/>
        </p:nvSpPr>
        <p:spPr>
          <a:xfrm>
            <a:off x="571500" y="2589191"/>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MRI data is imported using Nibabel (.nii files). Four modalities are combined along a channel axis, giving a 4D tensor (H, W, D, 4).</a:t>
            </a:r>
            <a:endParaRPr lang="en-US" sz="942" dirty="0"/>
          </a:p>
        </p:txBody>
      </p:sp>
      <p:sp>
        <p:nvSpPr>
          <p:cNvPr id="8" name="Text 4"/>
          <p:cNvSpPr/>
          <p:nvPr/>
        </p:nvSpPr>
        <p:spPr>
          <a:xfrm>
            <a:off x="571500" y="3392081"/>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Step 02</a:t>
            </a:r>
            <a:endParaRPr lang="en-US" sz="683" dirty="0"/>
          </a:p>
        </p:txBody>
      </p:sp>
      <p:sp>
        <p:nvSpPr>
          <p:cNvPr id="9" name="Text 5"/>
          <p:cNvSpPr/>
          <p:nvPr/>
        </p:nvSpPr>
        <p:spPr>
          <a:xfrm>
            <a:off x="571500" y="3699263"/>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Label Mapping</a:t>
            </a:r>
            <a:endParaRPr lang="en-US" sz="1193" dirty="0"/>
          </a:p>
        </p:txBody>
      </p:sp>
      <p:sp>
        <p:nvSpPr>
          <p:cNvPr id="10" name="Text 6"/>
          <p:cNvSpPr/>
          <p:nvPr/>
        </p:nvSpPr>
        <p:spPr>
          <a:xfrm>
            <a:off x="571500" y="4061808"/>
            <a:ext cx="371475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BraTS labels are adjusted (4 → 3) to create contiguous classes {0,1,2,3}, which stabilizes multi-class loss optimization.</a:t>
            </a:r>
            <a:endParaRPr lang="en-US" sz="942" dirty="0"/>
          </a:p>
        </p:txBody>
      </p:sp>
      <p:sp>
        <p:nvSpPr>
          <p:cNvPr id="11" name="Text 7"/>
          <p:cNvSpPr/>
          <p:nvPr/>
        </p:nvSpPr>
        <p:spPr>
          <a:xfrm>
            <a:off x="4857750" y="1919464"/>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Step 03</a:t>
            </a:r>
            <a:endParaRPr lang="en-US" sz="683" dirty="0"/>
          </a:p>
        </p:txBody>
      </p:sp>
      <p:sp>
        <p:nvSpPr>
          <p:cNvPr id="12" name="Text 8"/>
          <p:cNvSpPr/>
          <p:nvPr/>
        </p:nvSpPr>
        <p:spPr>
          <a:xfrm>
            <a:off x="4857750" y="2226645"/>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Z-Score Normalization</a:t>
            </a:r>
            <a:endParaRPr lang="en-US" sz="1193" dirty="0"/>
          </a:p>
        </p:txBody>
      </p:sp>
      <p:sp>
        <p:nvSpPr>
          <p:cNvPr id="13" name="Text 9"/>
          <p:cNvSpPr/>
          <p:nvPr/>
        </p:nvSpPr>
        <p:spPr>
          <a:xfrm>
            <a:off x="4857750" y="2589191"/>
            <a:ext cx="371475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Intensities are standardized: (x - mean) / std, computed only on non-zero brain voxels to avoid background bias.</a:t>
            </a:r>
            <a:endParaRPr lang="en-US" sz="942" dirty="0"/>
          </a:p>
        </p:txBody>
      </p:sp>
      <p:sp>
        <p:nvSpPr>
          <p:cNvPr id="14" name="Text 10"/>
          <p:cNvSpPr/>
          <p:nvPr/>
        </p:nvSpPr>
        <p:spPr>
          <a:xfrm>
            <a:off x="4857750" y="3186364"/>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Step 04</a:t>
            </a:r>
            <a:endParaRPr lang="en-US" sz="683" dirty="0"/>
          </a:p>
        </p:txBody>
      </p:sp>
      <p:sp>
        <p:nvSpPr>
          <p:cNvPr id="15" name="Text 11"/>
          <p:cNvSpPr/>
          <p:nvPr/>
        </p:nvSpPr>
        <p:spPr>
          <a:xfrm>
            <a:off x="4857750" y="3493545"/>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Spatial Processing</a:t>
            </a:r>
            <a:endParaRPr lang="en-US" sz="1193" dirty="0"/>
          </a:p>
        </p:txBody>
      </p:sp>
      <p:sp>
        <p:nvSpPr>
          <p:cNvPr id="16" name="Text 12"/>
          <p:cNvSpPr/>
          <p:nvPr/>
        </p:nvSpPr>
        <p:spPr>
          <a:xfrm>
            <a:off x="4857750" y="3856090"/>
            <a:ext cx="371475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Volumes are cropped to the brain bounding box and resized to a fixed patch size for uniform model input.</a:t>
            </a:r>
            <a:endParaRPr lang="en-US" sz="94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494493"/>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3D U-Net Captures Full Volumetric Spatial Context</a:t>
            </a:r>
            <a:endParaRPr lang="en-US" sz="1602" dirty="0"/>
          </a:p>
        </p:txBody>
      </p:sp>
      <p:sp>
        <p:nvSpPr>
          <p:cNvPr id="5" name="Text 1"/>
          <p:cNvSpPr/>
          <p:nvPr/>
        </p:nvSpPr>
        <p:spPr>
          <a:xfrm>
            <a:off x="571500" y="1392082"/>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Architecture</a:t>
            </a:r>
            <a:endParaRPr lang="en-US" sz="683" dirty="0"/>
          </a:p>
        </p:txBody>
      </p:sp>
      <p:sp>
        <p:nvSpPr>
          <p:cNvPr id="6" name="Text 2"/>
          <p:cNvSpPr/>
          <p:nvPr/>
        </p:nvSpPr>
        <p:spPr>
          <a:xfrm>
            <a:off x="571500" y="1699264"/>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Volumetric Convolution</a:t>
            </a:r>
            <a:endParaRPr lang="en-US" sz="1193" dirty="0"/>
          </a:p>
        </p:txBody>
      </p:sp>
      <p:sp>
        <p:nvSpPr>
          <p:cNvPr id="7" name="Text 3"/>
          <p:cNvSpPr/>
          <p:nvPr/>
        </p:nvSpPr>
        <p:spPr>
          <a:xfrm>
            <a:off x="571500" y="2061809"/>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The 3D U-Net processes the entire MRI volume using 3D convolutions, allowing it to learn spatial correlations across all three dimensions (H, W, D) simultaneously.</a:t>
            </a:r>
            <a:endParaRPr lang="en-US" sz="942" dirty="0"/>
          </a:p>
        </p:txBody>
      </p:sp>
      <p:sp>
        <p:nvSpPr>
          <p:cNvPr id="8" name="Text 4"/>
          <p:cNvSpPr/>
          <p:nvPr/>
        </p:nvSpPr>
        <p:spPr>
          <a:xfrm>
            <a:off x="571500" y="3127567"/>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Structure</a:t>
            </a:r>
            <a:endParaRPr lang="en-US" sz="683" dirty="0"/>
          </a:p>
        </p:txBody>
      </p:sp>
      <p:sp>
        <p:nvSpPr>
          <p:cNvPr id="9" name="Text 5"/>
          <p:cNvSpPr/>
          <p:nvPr/>
        </p:nvSpPr>
        <p:spPr>
          <a:xfrm>
            <a:off x="571500" y="3434748"/>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Encoder-Decoder Design</a:t>
            </a:r>
            <a:endParaRPr lang="en-US" sz="1193" dirty="0"/>
          </a:p>
        </p:txBody>
      </p:sp>
      <p:sp>
        <p:nvSpPr>
          <p:cNvPr id="10" name="Text 6"/>
          <p:cNvSpPr/>
          <p:nvPr/>
        </p:nvSpPr>
        <p:spPr>
          <a:xfrm>
            <a:off x="571500" y="3797294"/>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Features skip connections that preserve high-resolution spatial details from the encoder to the decoder, which is critical for accurate boundary detection.</a:t>
            </a:r>
            <a:endParaRPr lang="en-US" sz="942" dirty="0"/>
          </a:p>
        </p:txBody>
      </p:sp>
      <p:sp>
        <p:nvSpPr>
          <p:cNvPr id="11" name="Text 7"/>
          <p:cNvSpPr/>
          <p:nvPr/>
        </p:nvSpPr>
        <p:spPr>
          <a:xfrm>
            <a:off x="571500" y="4763040"/>
            <a:ext cx="3299101" cy="617153"/>
          </a:xfrm>
          <a:prstGeom prst="rect">
            <a:avLst/>
          </a:prstGeom>
          <a:noFill/>
          <a:ln/>
        </p:spPr>
        <p:txBody>
          <a:bodyPr wrap="square" lIns="0" tIns="0" rIns="0" bIns="0" rtlCol="0" anchor="t">
            <a:spAutoFit/>
          </a:bodyPr>
          <a:lstStyle/>
          <a:p>
            <a:pPr marL="0" indent="0" algn="l">
              <a:lnSpc>
                <a:spcPts val="1600"/>
              </a:lnSpc>
              <a:buNone/>
            </a:pPr>
            <a:r>
              <a:rPr lang="en-US" sz="942" i="1" dirty="0">
                <a:solidFill>
                  <a:srgbClr val="333333"/>
                </a:solidFill>
              </a:rPr>
              <a:t>While highly accurate, 3D U-Net is computationally expensive and requires significant GPU memory for full-volume processing.</a:t>
            </a:r>
            <a:endParaRPr lang="en-US" sz="942" dirty="0"/>
          </a:p>
        </p:txBody>
      </p:sp>
      <p:pic>
        <p:nvPicPr>
          <p:cNvPr id="12" name="Image 1" descr="preencoded.png"/>
          <p:cNvPicPr>
            <a:picLocks noChangeAspect="1"/>
          </p:cNvPicPr>
          <p:nvPr/>
        </p:nvPicPr>
        <p:blipFill>
          <a:blip r:embed="rId4"/>
          <a:stretch>
            <a:fillRect/>
          </a:stretch>
        </p:blipFill>
        <p:spPr>
          <a:xfrm>
            <a:off x="4214143" y="1292070"/>
            <a:ext cx="4300538" cy="2871788"/>
          </a:xfrm>
          <a:prstGeom prst="rect">
            <a:avLst/>
          </a:prstGeom>
        </p:spPr>
      </p:pic>
      <p:sp>
        <p:nvSpPr>
          <p:cNvPr id="13" name="Text 8"/>
          <p:cNvSpPr/>
          <p:nvPr/>
        </p:nvSpPr>
        <p:spPr>
          <a:xfrm>
            <a:off x="4573339" y="4263870"/>
            <a:ext cx="3582172" cy="192881"/>
          </a:xfrm>
          <a:prstGeom prst="rect">
            <a:avLst/>
          </a:prstGeom>
          <a:noFill/>
          <a:ln/>
        </p:spPr>
        <p:txBody>
          <a:bodyPr wrap="square" lIns="0" tIns="68072" rIns="0" bIns="0" rtlCol="0" anchor="t">
            <a:spAutoFit/>
          </a:bodyPr>
          <a:lstStyle/>
          <a:p>
            <a:pPr marL="0" indent="0" algn="ctr">
              <a:lnSpc>
                <a:spcPts val="900"/>
              </a:lnSpc>
              <a:buNone/>
            </a:pPr>
            <a:r>
              <a:rPr lang="en-US" sz="727" dirty="0">
                <a:solidFill>
                  <a:srgbClr val="333333"/>
                </a:solidFill>
              </a:rPr>
              <a:t>Standard 3D U-Net architecture for volumetric medical image segmentation.</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568C37-FAE4-89B7-6489-B7B4670645BF}"/>
              </a:ext>
            </a:extLst>
          </p:cNvPr>
          <p:cNvPicPr>
            <a:picLocks noChangeAspect="1"/>
          </p:cNvPicPr>
          <p:nvPr/>
        </p:nvPicPr>
        <p:blipFill>
          <a:blip r:embed="rId2"/>
          <a:stretch>
            <a:fillRect/>
          </a:stretch>
        </p:blipFill>
        <p:spPr>
          <a:xfrm>
            <a:off x="1907864" y="57650"/>
            <a:ext cx="4819507" cy="2624837"/>
          </a:xfrm>
          <a:prstGeom prst="rect">
            <a:avLst/>
          </a:prstGeom>
        </p:spPr>
      </p:pic>
      <p:pic>
        <p:nvPicPr>
          <p:cNvPr id="5" name="Picture 4">
            <a:extLst>
              <a:ext uri="{FF2B5EF4-FFF2-40B4-BE49-F238E27FC236}">
                <a16:creationId xmlns:a16="http://schemas.microsoft.com/office/drawing/2014/main" id="{10011491-7F66-DFDC-6788-1C7C51A5E968}"/>
              </a:ext>
            </a:extLst>
          </p:cNvPr>
          <p:cNvPicPr>
            <a:picLocks noChangeAspect="1"/>
          </p:cNvPicPr>
          <p:nvPr/>
        </p:nvPicPr>
        <p:blipFill>
          <a:blip r:embed="rId3"/>
          <a:stretch>
            <a:fillRect/>
          </a:stretch>
        </p:blipFill>
        <p:spPr>
          <a:xfrm>
            <a:off x="1980053" y="2571749"/>
            <a:ext cx="4905447" cy="2644961"/>
          </a:xfrm>
          <a:prstGeom prst="rect">
            <a:avLst/>
          </a:prstGeom>
        </p:spPr>
      </p:pic>
    </p:spTree>
    <p:extLst>
      <p:ext uri="{BB962C8B-B14F-4D97-AF65-F5344CB8AC3E}">
        <p14:creationId xmlns:p14="http://schemas.microsoft.com/office/powerpoint/2010/main" val="2797717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84C2C8-7EDE-82B2-1EE7-CD6A05FE6553}"/>
              </a:ext>
            </a:extLst>
          </p:cNvPr>
          <p:cNvPicPr>
            <a:picLocks noChangeAspect="1"/>
          </p:cNvPicPr>
          <p:nvPr/>
        </p:nvPicPr>
        <p:blipFill>
          <a:blip r:embed="rId2"/>
          <a:stretch>
            <a:fillRect/>
          </a:stretch>
        </p:blipFill>
        <p:spPr>
          <a:xfrm>
            <a:off x="0" y="661829"/>
            <a:ext cx="9144000" cy="3819841"/>
          </a:xfrm>
          <a:prstGeom prst="rect">
            <a:avLst/>
          </a:prstGeom>
        </p:spPr>
      </p:pic>
      <p:pic>
        <p:nvPicPr>
          <p:cNvPr id="5" name="Picture 4">
            <a:extLst>
              <a:ext uri="{FF2B5EF4-FFF2-40B4-BE49-F238E27FC236}">
                <a16:creationId xmlns:a16="http://schemas.microsoft.com/office/drawing/2014/main" id="{D7A7D6FB-FC68-737B-0B2F-4B81E4EFB6B6}"/>
              </a:ext>
            </a:extLst>
          </p:cNvPr>
          <p:cNvPicPr>
            <a:picLocks noChangeAspect="1"/>
          </p:cNvPicPr>
          <p:nvPr/>
        </p:nvPicPr>
        <p:blipFill>
          <a:blip r:embed="rId3"/>
          <a:stretch>
            <a:fillRect/>
          </a:stretch>
        </p:blipFill>
        <p:spPr>
          <a:xfrm>
            <a:off x="0" y="661829"/>
            <a:ext cx="9144000" cy="1884857"/>
          </a:xfrm>
          <a:prstGeom prst="rect">
            <a:avLst/>
          </a:prstGeom>
        </p:spPr>
      </p:pic>
    </p:spTree>
    <p:extLst>
      <p:ext uri="{BB962C8B-B14F-4D97-AF65-F5344CB8AC3E}">
        <p14:creationId xmlns:p14="http://schemas.microsoft.com/office/powerpoint/2010/main" val="97334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2D U-Net: The Foundation of Medical Image Segmentation</a:t>
            </a:r>
            <a:endParaRPr lang="en-US" sz="1602" dirty="0"/>
          </a:p>
        </p:txBody>
      </p:sp>
      <p:sp>
        <p:nvSpPr>
          <p:cNvPr id="5" name="Text 1"/>
          <p:cNvSpPr/>
          <p:nvPr/>
        </p:nvSpPr>
        <p:spPr>
          <a:xfrm>
            <a:off x="571500" y="1422304"/>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Baseline Model</a:t>
            </a:r>
            <a:endParaRPr lang="en-US" sz="683" dirty="0"/>
          </a:p>
        </p:txBody>
      </p:sp>
      <p:sp>
        <p:nvSpPr>
          <p:cNvPr id="6" name="Text 2"/>
          <p:cNvSpPr/>
          <p:nvPr/>
        </p:nvSpPr>
        <p:spPr>
          <a:xfrm>
            <a:off x="571500" y="1729485"/>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Symmetric Encoder-Decoder</a:t>
            </a:r>
            <a:endParaRPr lang="en-US" sz="1193" dirty="0"/>
          </a:p>
        </p:txBody>
      </p:sp>
      <p:sp>
        <p:nvSpPr>
          <p:cNvPr id="7" name="Text 3"/>
          <p:cNvSpPr/>
          <p:nvPr/>
        </p:nvSpPr>
        <p:spPr>
          <a:xfrm>
            <a:off x="571500" y="2092030"/>
            <a:ext cx="329910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The classic 2D U-Net consists of a contracting path to capture context and a symmetric expansive path that enables precise localization through skip connections.</a:t>
            </a:r>
            <a:endParaRPr lang="en-US" sz="942" dirty="0"/>
          </a:p>
        </p:txBody>
      </p:sp>
      <p:sp>
        <p:nvSpPr>
          <p:cNvPr id="8" name="Text 4"/>
          <p:cNvSpPr/>
          <p:nvPr/>
        </p:nvSpPr>
        <p:spPr>
          <a:xfrm>
            <a:off x="571500" y="2952071"/>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Mechanism</a:t>
            </a:r>
            <a:endParaRPr lang="en-US" sz="683" dirty="0"/>
          </a:p>
        </p:txBody>
      </p:sp>
      <p:sp>
        <p:nvSpPr>
          <p:cNvPr id="9" name="Text 5"/>
          <p:cNvSpPr/>
          <p:nvPr/>
        </p:nvSpPr>
        <p:spPr>
          <a:xfrm>
            <a:off x="571500" y="3259252"/>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Skip Connections</a:t>
            </a:r>
            <a:endParaRPr lang="en-US" sz="1193" dirty="0"/>
          </a:p>
        </p:txBody>
      </p:sp>
      <p:sp>
        <p:nvSpPr>
          <p:cNvPr id="10" name="Text 6"/>
          <p:cNvSpPr/>
          <p:nvPr/>
        </p:nvSpPr>
        <p:spPr>
          <a:xfrm>
            <a:off x="571500" y="3621798"/>
            <a:ext cx="329910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Concatenating high-resolution features from the encoder directly to the decoder helps recover spatial information lost during downsampling.</a:t>
            </a:r>
            <a:endParaRPr lang="en-US" sz="942" dirty="0"/>
          </a:p>
        </p:txBody>
      </p:sp>
      <p:sp>
        <p:nvSpPr>
          <p:cNvPr id="11" name="Text 7"/>
          <p:cNvSpPr/>
          <p:nvPr/>
        </p:nvSpPr>
        <p:spPr>
          <a:xfrm>
            <a:off x="571500" y="4381826"/>
            <a:ext cx="3299101" cy="617153"/>
          </a:xfrm>
          <a:prstGeom prst="rect">
            <a:avLst/>
          </a:prstGeom>
          <a:noFill/>
          <a:ln/>
        </p:spPr>
        <p:txBody>
          <a:bodyPr wrap="square" lIns="0" tIns="0" rIns="0" bIns="0" rtlCol="0" anchor="t">
            <a:spAutoFit/>
          </a:bodyPr>
          <a:lstStyle/>
          <a:p>
            <a:pPr marL="0" indent="0" algn="l">
              <a:lnSpc>
                <a:spcPts val="1600"/>
              </a:lnSpc>
              <a:buNone/>
            </a:pPr>
            <a:r>
              <a:rPr lang="en-US" sz="942" i="1" dirty="0">
                <a:solidFill>
                  <a:srgbClr val="333333"/>
                </a:solidFill>
              </a:rPr>
              <a:t>While efficient for 2D slices, it lacks inter-slice spatial context, which is critical for complex 3D brain tumor structures.</a:t>
            </a:r>
            <a:endParaRPr lang="en-US" sz="942" dirty="0"/>
          </a:p>
        </p:txBody>
      </p:sp>
      <p:pic>
        <p:nvPicPr>
          <p:cNvPr id="12" name="Image 1" descr="preencoded.png"/>
          <p:cNvPicPr>
            <a:picLocks noChangeAspect="1"/>
          </p:cNvPicPr>
          <p:nvPr/>
        </p:nvPicPr>
        <p:blipFill>
          <a:blip r:embed="rId4"/>
          <a:stretch>
            <a:fillRect/>
          </a:stretch>
        </p:blipFill>
        <p:spPr>
          <a:xfrm>
            <a:off x="4214143" y="1322291"/>
            <a:ext cx="4300538" cy="2871788"/>
          </a:xfrm>
          <a:prstGeom prst="rect">
            <a:avLst/>
          </a:prstGeom>
        </p:spPr>
      </p:pic>
      <p:sp>
        <p:nvSpPr>
          <p:cNvPr id="13" name="Text 8"/>
          <p:cNvSpPr/>
          <p:nvPr/>
        </p:nvSpPr>
        <p:spPr>
          <a:xfrm>
            <a:off x="4696904" y="4294091"/>
            <a:ext cx="3335043" cy="192881"/>
          </a:xfrm>
          <a:prstGeom prst="rect">
            <a:avLst/>
          </a:prstGeom>
          <a:noFill/>
          <a:ln/>
        </p:spPr>
        <p:txBody>
          <a:bodyPr wrap="square" lIns="0" tIns="68072" rIns="0" bIns="0" rtlCol="0" anchor="t">
            <a:spAutoFit/>
          </a:bodyPr>
          <a:lstStyle/>
          <a:p>
            <a:pPr marL="0" indent="0" algn="ctr">
              <a:lnSpc>
                <a:spcPts val="900"/>
              </a:lnSpc>
              <a:buNone/>
            </a:pPr>
            <a:r>
              <a:rPr lang="en-US" sz="727" dirty="0">
                <a:solidFill>
                  <a:srgbClr val="333333"/>
                </a:solidFill>
              </a:rPr>
              <a:t>The original 2D U-Net architecture for biomedical image segmentation.</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780D18-724C-1DBF-F692-E1E02223A9A2}"/>
              </a:ext>
            </a:extLst>
          </p:cNvPr>
          <p:cNvSpPr txBox="1"/>
          <p:nvPr/>
        </p:nvSpPr>
        <p:spPr>
          <a:xfrm>
            <a:off x="875903" y="1068586"/>
            <a:ext cx="5288692" cy="3785652"/>
          </a:xfrm>
          <a:prstGeom prst="rect">
            <a:avLst/>
          </a:prstGeom>
          <a:noFill/>
        </p:spPr>
        <p:txBody>
          <a:bodyPr wrap="square" rtlCol="0">
            <a:spAutoFit/>
          </a:bodyPr>
          <a:lstStyle/>
          <a:p>
            <a:pPr marL="228600" indent="-228600">
              <a:buAutoNum type="arabicPeriod"/>
            </a:pPr>
            <a:r>
              <a:rPr lang="en-US" sz="2000" b="1" dirty="0">
                <a:solidFill>
                  <a:srgbClr val="1A1A1A"/>
                </a:solidFill>
              </a:rPr>
              <a:t>Residual UNet block :</a:t>
            </a:r>
          </a:p>
          <a:p>
            <a:pPr marL="628650" lvl="1" indent="-171450">
              <a:buFont typeface="Arial" panose="020B0604020202020204" pitchFamily="34" charset="0"/>
              <a:buChar char="•"/>
            </a:pPr>
            <a:r>
              <a:rPr lang="en-US" sz="1600" dirty="0">
                <a:solidFill>
                  <a:srgbClr val="1A1A1A"/>
                </a:solidFill>
              </a:rPr>
              <a:t>encoder </a:t>
            </a:r>
          </a:p>
          <a:p>
            <a:pPr marL="628650" lvl="1" indent="-171450">
              <a:buFont typeface="Arial" panose="020B0604020202020204" pitchFamily="34" charset="0"/>
              <a:buChar char="•"/>
            </a:pPr>
            <a:r>
              <a:rPr lang="en-US" sz="1600" dirty="0">
                <a:solidFill>
                  <a:srgbClr val="1A1A1A"/>
                </a:solidFill>
              </a:rPr>
              <a:t>Decoder</a:t>
            </a:r>
          </a:p>
          <a:p>
            <a:pPr marL="628650" lvl="1" indent="-171450">
              <a:buFont typeface="Arial" panose="020B0604020202020204" pitchFamily="34" charset="0"/>
              <a:buChar char="•"/>
            </a:pPr>
            <a:r>
              <a:rPr lang="en-US" sz="1600" dirty="0">
                <a:solidFill>
                  <a:srgbClr val="1A1A1A"/>
                </a:solidFill>
              </a:rPr>
              <a:t>skip connections</a:t>
            </a:r>
          </a:p>
          <a:p>
            <a:r>
              <a:rPr lang="en-US" sz="2000" b="1" dirty="0">
                <a:solidFill>
                  <a:srgbClr val="1A1A1A"/>
                </a:solidFill>
              </a:rPr>
              <a:t>2. Deep supervision :</a:t>
            </a:r>
          </a:p>
          <a:p>
            <a:pPr marL="628650" lvl="1" indent="-171450">
              <a:buFont typeface="Arial" panose="020B0604020202020204" pitchFamily="34" charset="0"/>
              <a:buChar char="•"/>
            </a:pPr>
            <a:r>
              <a:rPr lang="en-US" sz="1600" dirty="0">
                <a:solidFill>
                  <a:srgbClr val="1A1A1A"/>
                </a:solidFill>
              </a:rPr>
              <a:t>Auxiliary output </a:t>
            </a:r>
          </a:p>
          <a:p>
            <a:pPr marL="628650" lvl="1" indent="-171450">
              <a:buFont typeface="Arial" panose="020B0604020202020204" pitchFamily="34" charset="0"/>
              <a:buChar char="•"/>
            </a:pPr>
            <a:r>
              <a:rPr lang="en-US" sz="1600" dirty="0">
                <a:solidFill>
                  <a:srgbClr val="1A1A1A"/>
                </a:solidFill>
              </a:rPr>
              <a:t>Direct feedback</a:t>
            </a:r>
          </a:p>
          <a:p>
            <a:r>
              <a:rPr lang="en-US" sz="2000" b="1" dirty="0">
                <a:solidFill>
                  <a:srgbClr val="1A1A1A"/>
                </a:solidFill>
              </a:rPr>
              <a:t>3. Loss Function :</a:t>
            </a:r>
          </a:p>
          <a:p>
            <a:pPr marL="628650" lvl="1" indent="-171450">
              <a:buFont typeface="Arial" panose="020B0604020202020204" pitchFamily="34" charset="0"/>
              <a:buChar char="•"/>
            </a:pPr>
            <a:r>
              <a:rPr lang="en-US" sz="1600" dirty="0">
                <a:solidFill>
                  <a:srgbClr val="1A1A1A"/>
                </a:solidFill>
              </a:rPr>
              <a:t>Total Loss</a:t>
            </a:r>
          </a:p>
          <a:p>
            <a:pPr marL="628650" lvl="1" indent="-171450">
              <a:buFont typeface="Arial" panose="020B0604020202020204" pitchFamily="34" charset="0"/>
              <a:buChar char="•"/>
            </a:pPr>
            <a:r>
              <a:rPr lang="en-US" sz="1600" dirty="0">
                <a:solidFill>
                  <a:srgbClr val="1A1A1A"/>
                </a:solidFill>
              </a:rPr>
              <a:t>Dice Loss</a:t>
            </a:r>
          </a:p>
          <a:p>
            <a:pPr marL="628650" lvl="1" indent="-171450">
              <a:buFont typeface="Arial" panose="020B0604020202020204" pitchFamily="34" charset="0"/>
              <a:buChar char="•"/>
            </a:pPr>
            <a:r>
              <a:rPr lang="en-US" sz="1600" dirty="0">
                <a:solidFill>
                  <a:srgbClr val="1A1A1A"/>
                </a:solidFill>
              </a:rPr>
              <a:t>Categorical Cross-Entropy</a:t>
            </a:r>
          </a:p>
          <a:p>
            <a:r>
              <a:rPr lang="en-US" sz="1600" b="1" dirty="0">
                <a:solidFill>
                  <a:srgbClr val="1A1A1A"/>
                </a:solidFill>
              </a:rPr>
              <a:t>4. </a:t>
            </a:r>
            <a:r>
              <a:rPr lang="en-US" sz="2000" b="1" dirty="0">
                <a:solidFill>
                  <a:srgbClr val="1A1A1A"/>
                </a:solidFill>
              </a:rPr>
              <a:t>Output:</a:t>
            </a:r>
          </a:p>
          <a:p>
            <a:pPr marL="628650" lvl="1" indent="-171450">
              <a:buFont typeface="Arial" panose="020B0604020202020204" pitchFamily="34" charset="0"/>
              <a:buChar char="•"/>
            </a:pPr>
            <a:r>
              <a:rPr lang="en-US" sz="1600" dirty="0">
                <a:solidFill>
                  <a:srgbClr val="1A1A1A"/>
                </a:solidFill>
              </a:rPr>
              <a:t>Main Output</a:t>
            </a:r>
          </a:p>
          <a:p>
            <a:pPr marL="628650" lvl="1" indent="-171450">
              <a:buFont typeface="Arial" panose="020B0604020202020204" pitchFamily="34" charset="0"/>
              <a:buChar char="•"/>
            </a:pPr>
            <a:r>
              <a:rPr lang="en-US" sz="1600" dirty="0">
                <a:solidFill>
                  <a:srgbClr val="1A1A1A"/>
                </a:solidFill>
              </a:rPr>
              <a:t>Auxiliary Output</a:t>
            </a:r>
          </a:p>
        </p:txBody>
      </p:sp>
      <p:sp>
        <p:nvSpPr>
          <p:cNvPr id="3" name="Text 0">
            <a:extLst>
              <a:ext uri="{FF2B5EF4-FFF2-40B4-BE49-F238E27FC236}">
                <a16:creationId xmlns:a16="http://schemas.microsoft.com/office/drawing/2014/main" id="{B52BA926-240D-D4DD-C684-0B79ACBFED3E}"/>
              </a:ext>
            </a:extLst>
          </p:cNvPr>
          <p:cNvSpPr/>
          <p:nvPr/>
        </p:nvSpPr>
        <p:spPr>
          <a:xfrm>
            <a:off x="311133" y="483356"/>
            <a:ext cx="6418232" cy="282129"/>
          </a:xfrm>
          <a:prstGeom prst="rect">
            <a:avLst/>
          </a:prstGeom>
          <a:noFill/>
          <a:ln/>
        </p:spPr>
        <p:txBody>
          <a:bodyPr wrap="none" lIns="204089" tIns="0" rIns="0" bIns="0" rtlCol="0" anchor="t">
            <a:spAutoFit/>
          </a:bodyPr>
          <a:lstStyle/>
          <a:p>
            <a:pPr marL="0" indent="0" algn="l">
              <a:lnSpc>
                <a:spcPts val="2200"/>
              </a:lnSpc>
              <a:buNone/>
            </a:pPr>
            <a:r>
              <a:rPr lang="en-US" sz="2000" b="1" dirty="0">
                <a:solidFill>
                  <a:srgbClr val="0052CC"/>
                </a:solidFill>
              </a:rPr>
              <a:t>2D U-Net: The Foundation of Medical Image Segmentation</a:t>
            </a:r>
            <a:endParaRPr lang="en-US" sz="2000" dirty="0"/>
          </a:p>
        </p:txBody>
      </p:sp>
    </p:spTree>
    <p:extLst>
      <p:ext uri="{BB962C8B-B14F-4D97-AF65-F5344CB8AC3E}">
        <p14:creationId xmlns:p14="http://schemas.microsoft.com/office/powerpoint/2010/main" val="670210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A6EFD1-A6BB-ECC6-99FB-6AC81BF4DCC1}"/>
              </a:ext>
            </a:extLst>
          </p:cNvPr>
          <p:cNvPicPr>
            <a:picLocks noChangeAspect="1"/>
          </p:cNvPicPr>
          <p:nvPr/>
        </p:nvPicPr>
        <p:blipFill>
          <a:blip r:embed="rId2"/>
          <a:stretch>
            <a:fillRect/>
          </a:stretch>
        </p:blipFill>
        <p:spPr>
          <a:xfrm>
            <a:off x="0" y="756735"/>
            <a:ext cx="9144000" cy="3630030"/>
          </a:xfrm>
          <a:prstGeom prst="rect">
            <a:avLst/>
          </a:prstGeom>
        </p:spPr>
      </p:pic>
    </p:spTree>
    <p:extLst>
      <p:ext uri="{BB962C8B-B14F-4D97-AF65-F5344CB8AC3E}">
        <p14:creationId xmlns:p14="http://schemas.microsoft.com/office/powerpoint/2010/main" val="1516461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88775"/>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2.5D U-Net: A High-Efficiency Spatial Compromise</a:t>
            </a:r>
            <a:endParaRPr lang="en-US" sz="1602" dirty="0"/>
          </a:p>
        </p:txBody>
      </p:sp>
      <p:sp>
        <p:nvSpPr>
          <p:cNvPr id="5" name="Text 1"/>
          <p:cNvSpPr/>
          <p:nvPr/>
        </p:nvSpPr>
        <p:spPr>
          <a:xfrm>
            <a:off x="571500" y="1392082"/>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The 2.5D Concept</a:t>
            </a:r>
            <a:endParaRPr lang="en-US" sz="683" dirty="0"/>
          </a:p>
        </p:txBody>
      </p:sp>
      <p:sp>
        <p:nvSpPr>
          <p:cNvPr id="6" name="Text 2"/>
          <p:cNvSpPr/>
          <p:nvPr/>
        </p:nvSpPr>
        <p:spPr>
          <a:xfrm>
            <a:off x="571500" y="1699264"/>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Stacked Adjacent Slices</a:t>
            </a:r>
            <a:endParaRPr lang="en-US" sz="1193" dirty="0"/>
          </a:p>
        </p:txBody>
      </p:sp>
      <p:sp>
        <p:nvSpPr>
          <p:cNvPr id="7" name="Text 3"/>
          <p:cNvSpPr/>
          <p:nvPr/>
        </p:nvSpPr>
        <p:spPr>
          <a:xfrm>
            <a:off x="571500" y="2061809"/>
            <a:ext cx="329910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Input consists of three adjacent slices (k-1, k, k+1) stacked as channels. This retains inter-slice spatial context while using standard 2D convolutions.</a:t>
            </a:r>
            <a:endParaRPr lang="en-US" sz="942" dirty="0"/>
          </a:p>
        </p:txBody>
      </p:sp>
      <p:sp>
        <p:nvSpPr>
          <p:cNvPr id="8" name="Text 4"/>
          <p:cNvSpPr/>
          <p:nvPr/>
        </p:nvSpPr>
        <p:spPr>
          <a:xfrm>
            <a:off x="571500" y="2921850"/>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Efficiency</a:t>
            </a:r>
            <a:endParaRPr lang="en-US" sz="683" dirty="0"/>
          </a:p>
        </p:txBody>
      </p:sp>
      <p:sp>
        <p:nvSpPr>
          <p:cNvPr id="9" name="Text 5"/>
          <p:cNvSpPr/>
          <p:nvPr/>
        </p:nvSpPr>
        <p:spPr>
          <a:xfrm>
            <a:off x="571500" y="3229031"/>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Resource Optimization</a:t>
            </a:r>
            <a:endParaRPr lang="en-US" sz="1193" dirty="0"/>
          </a:p>
        </p:txBody>
      </p:sp>
      <p:sp>
        <p:nvSpPr>
          <p:cNvPr id="10" name="Text 6"/>
          <p:cNvSpPr/>
          <p:nvPr/>
        </p:nvSpPr>
        <p:spPr>
          <a:xfrm>
            <a:off x="571500" y="3591576"/>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Significantly reduces memory footprint and accelerates training/inference compared to 3D models. Ideal for deployment with limited GPU resources.</a:t>
            </a:r>
            <a:endParaRPr lang="en-US" sz="942" dirty="0"/>
          </a:p>
        </p:txBody>
      </p:sp>
      <p:sp>
        <p:nvSpPr>
          <p:cNvPr id="11" name="Text 7"/>
          <p:cNvSpPr/>
          <p:nvPr/>
        </p:nvSpPr>
        <p:spPr>
          <a:xfrm>
            <a:off x="571500" y="4557322"/>
            <a:ext cx="3299101" cy="617153"/>
          </a:xfrm>
          <a:prstGeom prst="rect">
            <a:avLst/>
          </a:prstGeom>
          <a:noFill/>
          <a:ln/>
        </p:spPr>
        <p:txBody>
          <a:bodyPr wrap="square" lIns="0" tIns="0" rIns="0" bIns="0" rtlCol="0" anchor="t">
            <a:spAutoFit/>
          </a:bodyPr>
          <a:lstStyle/>
          <a:p>
            <a:pPr marL="0" indent="0" algn="l">
              <a:lnSpc>
                <a:spcPts val="1600"/>
              </a:lnSpc>
              <a:buNone/>
            </a:pPr>
            <a:r>
              <a:rPr lang="en-US" sz="942" i="1" dirty="0">
                <a:solidFill>
                  <a:srgbClr val="333333"/>
                </a:solidFill>
              </a:rPr>
              <a:t>2.5D U-Net captures critical depth information without the heavy computational demands of full 3D architectures.</a:t>
            </a:r>
            <a:endParaRPr lang="en-US" sz="942" dirty="0"/>
          </a:p>
        </p:txBody>
      </p:sp>
      <p:pic>
        <p:nvPicPr>
          <p:cNvPr id="12" name="Image 1" descr="preencoded.png"/>
          <p:cNvPicPr>
            <a:picLocks noChangeAspect="1"/>
          </p:cNvPicPr>
          <p:nvPr/>
        </p:nvPicPr>
        <p:blipFill>
          <a:blip r:embed="rId4"/>
          <a:stretch>
            <a:fillRect/>
          </a:stretch>
        </p:blipFill>
        <p:spPr>
          <a:xfrm>
            <a:off x="4214143" y="1292070"/>
            <a:ext cx="4300538" cy="2871788"/>
          </a:xfrm>
          <a:prstGeom prst="rect">
            <a:avLst/>
          </a:prstGeom>
        </p:spPr>
      </p:pic>
      <p:sp>
        <p:nvSpPr>
          <p:cNvPr id="13" name="Text 8"/>
          <p:cNvSpPr/>
          <p:nvPr/>
        </p:nvSpPr>
        <p:spPr>
          <a:xfrm>
            <a:off x="4790052" y="4263870"/>
            <a:ext cx="3148719" cy="192881"/>
          </a:xfrm>
          <a:prstGeom prst="rect">
            <a:avLst/>
          </a:prstGeom>
          <a:noFill/>
          <a:ln/>
        </p:spPr>
        <p:txBody>
          <a:bodyPr wrap="square" lIns="0" tIns="68072" rIns="0" bIns="0" rtlCol="0" anchor="t">
            <a:spAutoFit/>
          </a:bodyPr>
          <a:lstStyle/>
          <a:p>
            <a:pPr marL="0" indent="0" algn="ctr">
              <a:lnSpc>
                <a:spcPts val="900"/>
              </a:lnSpc>
              <a:buNone/>
            </a:pPr>
            <a:r>
              <a:rPr lang="en-US" sz="727" dirty="0">
                <a:solidFill>
                  <a:srgbClr val="333333"/>
                </a:solidFill>
              </a:rPr>
              <a:t>Visual representation of stacked slice input for 2.5D spatial context.</a:t>
            </a:r>
            <a:endParaRPr lang="en-US" sz="72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Architecture Comparison: Balancing Context and Resources</a:t>
            </a:r>
            <a:endParaRPr lang="en-US" sz="1602" dirty="0"/>
          </a:p>
        </p:txBody>
      </p:sp>
      <p:sp>
        <p:nvSpPr>
          <p:cNvPr id="5" name="Shape 1"/>
          <p:cNvSpPr/>
          <p:nvPr/>
        </p:nvSpPr>
        <p:spPr>
          <a:xfrm>
            <a:off x="571500" y="1406370"/>
            <a:ext cx="8001000" cy="2341364"/>
          </a:xfrm>
          <a:prstGeom prst="rect">
            <a:avLst/>
          </a:prstGeom>
          <a:solidFill>
            <a:srgbClr val="FFFFFF"/>
          </a:solidFill>
          <a:ln w="9144">
            <a:solidFill>
              <a:srgbClr val="1A1A1A"/>
            </a:solidFill>
            <a:prstDash val="solid"/>
          </a:ln>
        </p:spPr>
        <p:txBody>
          <a:bodyPr/>
          <a:lstStyle/>
          <a:p>
            <a:endParaRPr lang="en-EG"/>
          </a:p>
        </p:txBody>
      </p:sp>
      <p:sp>
        <p:nvSpPr>
          <p:cNvPr id="6" name="Shape 2"/>
          <p:cNvSpPr/>
          <p:nvPr/>
        </p:nvSpPr>
        <p:spPr>
          <a:xfrm>
            <a:off x="571500" y="1406370"/>
            <a:ext cx="1628775" cy="423267"/>
          </a:xfrm>
          <a:prstGeom prst="rect">
            <a:avLst/>
          </a:prstGeom>
          <a:solidFill>
            <a:srgbClr val="1A1A1A"/>
          </a:solidFill>
          <a:ln/>
        </p:spPr>
        <p:txBody>
          <a:bodyPr/>
          <a:lstStyle/>
          <a:p>
            <a:endParaRPr lang="en-EG"/>
          </a:p>
        </p:txBody>
      </p:sp>
      <p:sp>
        <p:nvSpPr>
          <p:cNvPr id="7" name="Text 3"/>
          <p:cNvSpPr/>
          <p:nvPr/>
        </p:nvSpPr>
        <p:spPr>
          <a:xfrm>
            <a:off x="571500" y="1406370"/>
            <a:ext cx="1628775" cy="423267"/>
          </a:xfrm>
          <a:prstGeom prst="rect">
            <a:avLst/>
          </a:prstGeom>
          <a:noFill/>
          <a:ln/>
        </p:spPr>
        <p:txBody>
          <a:bodyPr wrap="square" lIns="136017" tIns="136017" rIns="136017" bIns="136017" rtlCol="0" anchor="ctr">
            <a:spAutoFit/>
          </a:bodyPr>
          <a:lstStyle/>
          <a:p>
            <a:pPr marL="0" indent="0" algn="l">
              <a:lnSpc>
                <a:spcPts val="1400"/>
              </a:lnSpc>
              <a:buNone/>
            </a:pPr>
            <a:r>
              <a:rPr lang="en-US" sz="987" b="1" dirty="0">
                <a:solidFill>
                  <a:srgbClr val="FFFFFF"/>
                </a:solidFill>
              </a:rPr>
              <a:t>Feature</a:t>
            </a:r>
            <a:endParaRPr lang="en-US" sz="987" dirty="0"/>
          </a:p>
        </p:txBody>
      </p:sp>
      <p:sp>
        <p:nvSpPr>
          <p:cNvPr id="8" name="Shape 4"/>
          <p:cNvSpPr/>
          <p:nvPr/>
        </p:nvSpPr>
        <p:spPr>
          <a:xfrm>
            <a:off x="2200275" y="1406370"/>
            <a:ext cx="2152110" cy="423267"/>
          </a:xfrm>
          <a:prstGeom prst="rect">
            <a:avLst/>
          </a:prstGeom>
          <a:solidFill>
            <a:srgbClr val="1A1A1A"/>
          </a:solidFill>
          <a:ln/>
        </p:spPr>
        <p:txBody>
          <a:bodyPr/>
          <a:lstStyle/>
          <a:p>
            <a:endParaRPr lang="en-EG"/>
          </a:p>
        </p:txBody>
      </p:sp>
      <p:sp>
        <p:nvSpPr>
          <p:cNvPr id="9" name="Text 5"/>
          <p:cNvSpPr/>
          <p:nvPr/>
        </p:nvSpPr>
        <p:spPr>
          <a:xfrm>
            <a:off x="2200275" y="1406370"/>
            <a:ext cx="2152110" cy="423267"/>
          </a:xfrm>
          <a:prstGeom prst="rect">
            <a:avLst/>
          </a:prstGeom>
          <a:noFill/>
          <a:ln/>
        </p:spPr>
        <p:txBody>
          <a:bodyPr wrap="square" lIns="136017" tIns="136017" rIns="136017" bIns="136017" rtlCol="0" anchor="ctr">
            <a:spAutoFit/>
          </a:bodyPr>
          <a:lstStyle/>
          <a:p>
            <a:pPr marL="0" indent="0" algn="l">
              <a:lnSpc>
                <a:spcPts val="1400"/>
              </a:lnSpc>
              <a:buNone/>
            </a:pPr>
            <a:r>
              <a:rPr lang="en-US" sz="987" b="1" dirty="0">
                <a:solidFill>
                  <a:srgbClr val="FFFFFF"/>
                </a:solidFill>
              </a:rPr>
              <a:t>2D U-Net</a:t>
            </a:r>
            <a:endParaRPr lang="en-US" sz="987" dirty="0"/>
          </a:p>
        </p:txBody>
      </p:sp>
      <p:sp>
        <p:nvSpPr>
          <p:cNvPr id="10" name="Shape 6"/>
          <p:cNvSpPr/>
          <p:nvPr/>
        </p:nvSpPr>
        <p:spPr>
          <a:xfrm>
            <a:off x="4352385" y="1406370"/>
            <a:ext cx="2276289" cy="423267"/>
          </a:xfrm>
          <a:prstGeom prst="rect">
            <a:avLst/>
          </a:prstGeom>
          <a:solidFill>
            <a:srgbClr val="1A1A1A"/>
          </a:solidFill>
          <a:ln/>
        </p:spPr>
        <p:txBody>
          <a:bodyPr/>
          <a:lstStyle/>
          <a:p>
            <a:endParaRPr lang="en-EG"/>
          </a:p>
        </p:txBody>
      </p:sp>
      <p:sp>
        <p:nvSpPr>
          <p:cNvPr id="11" name="Text 7"/>
          <p:cNvSpPr/>
          <p:nvPr/>
        </p:nvSpPr>
        <p:spPr>
          <a:xfrm>
            <a:off x="4352385" y="1406370"/>
            <a:ext cx="2276289" cy="423267"/>
          </a:xfrm>
          <a:prstGeom prst="rect">
            <a:avLst/>
          </a:prstGeom>
          <a:noFill/>
          <a:ln/>
        </p:spPr>
        <p:txBody>
          <a:bodyPr wrap="square" lIns="136017" tIns="136017" rIns="136017" bIns="136017" rtlCol="0" anchor="ctr">
            <a:spAutoFit/>
          </a:bodyPr>
          <a:lstStyle/>
          <a:p>
            <a:pPr marL="0" indent="0" algn="l">
              <a:lnSpc>
                <a:spcPts val="1400"/>
              </a:lnSpc>
              <a:buNone/>
            </a:pPr>
            <a:r>
              <a:rPr lang="en-US" sz="987" b="1" dirty="0">
                <a:solidFill>
                  <a:srgbClr val="FFFFFF"/>
                </a:solidFill>
              </a:rPr>
              <a:t>2.5D U-Net</a:t>
            </a:r>
            <a:endParaRPr lang="en-US" sz="987" dirty="0"/>
          </a:p>
        </p:txBody>
      </p:sp>
      <p:sp>
        <p:nvSpPr>
          <p:cNvPr id="12" name="Shape 8"/>
          <p:cNvSpPr/>
          <p:nvPr/>
        </p:nvSpPr>
        <p:spPr>
          <a:xfrm>
            <a:off x="6628674" y="1406370"/>
            <a:ext cx="1943826" cy="423267"/>
          </a:xfrm>
          <a:prstGeom prst="rect">
            <a:avLst/>
          </a:prstGeom>
          <a:solidFill>
            <a:srgbClr val="1A1A1A"/>
          </a:solidFill>
          <a:ln/>
        </p:spPr>
        <p:txBody>
          <a:bodyPr/>
          <a:lstStyle/>
          <a:p>
            <a:endParaRPr lang="en-EG"/>
          </a:p>
        </p:txBody>
      </p:sp>
      <p:sp>
        <p:nvSpPr>
          <p:cNvPr id="13" name="Text 9"/>
          <p:cNvSpPr/>
          <p:nvPr/>
        </p:nvSpPr>
        <p:spPr>
          <a:xfrm>
            <a:off x="6628674" y="1406370"/>
            <a:ext cx="1943826" cy="423267"/>
          </a:xfrm>
          <a:prstGeom prst="rect">
            <a:avLst/>
          </a:prstGeom>
          <a:noFill/>
          <a:ln/>
        </p:spPr>
        <p:txBody>
          <a:bodyPr wrap="square" lIns="136017" tIns="136017" rIns="136017" bIns="136017" rtlCol="0" anchor="ctr">
            <a:spAutoFit/>
          </a:bodyPr>
          <a:lstStyle/>
          <a:p>
            <a:pPr marL="0" indent="0" algn="l">
              <a:lnSpc>
                <a:spcPts val="1400"/>
              </a:lnSpc>
              <a:buNone/>
            </a:pPr>
            <a:r>
              <a:rPr lang="en-US" sz="987" b="1" dirty="0">
                <a:solidFill>
                  <a:srgbClr val="FFFFFF"/>
                </a:solidFill>
              </a:rPr>
              <a:t>3D U-Net</a:t>
            </a:r>
            <a:endParaRPr lang="en-US" sz="987" dirty="0"/>
          </a:p>
        </p:txBody>
      </p:sp>
      <p:sp>
        <p:nvSpPr>
          <p:cNvPr id="14" name="Shape 10"/>
          <p:cNvSpPr/>
          <p:nvPr/>
        </p:nvSpPr>
        <p:spPr>
          <a:xfrm>
            <a:off x="571500" y="1829637"/>
            <a:ext cx="1628775" cy="378619"/>
          </a:xfrm>
          <a:prstGeom prst="rect">
            <a:avLst/>
          </a:prstGeom>
          <a:solidFill>
            <a:srgbClr val="F9F9F9"/>
          </a:solidFill>
          <a:ln/>
        </p:spPr>
        <p:txBody>
          <a:bodyPr/>
          <a:lstStyle/>
          <a:p>
            <a:endParaRPr lang="en-EG"/>
          </a:p>
        </p:txBody>
      </p:sp>
      <p:sp>
        <p:nvSpPr>
          <p:cNvPr id="15" name="Shape 11"/>
          <p:cNvSpPr/>
          <p:nvPr/>
        </p:nvSpPr>
        <p:spPr>
          <a:xfrm>
            <a:off x="571500" y="2201112"/>
            <a:ext cx="1628775" cy="7144"/>
          </a:xfrm>
          <a:prstGeom prst="rect">
            <a:avLst/>
          </a:prstGeom>
          <a:solidFill>
            <a:srgbClr val="E0E0E0"/>
          </a:solidFill>
          <a:ln/>
        </p:spPr>
        <p:txBody>
          <a:bodyPr/>
          <a:lstStyle/>
          <a:p>
            <a:endParaRPr lang="en-EG"/>
          </a:p>
        </p:txBody>
      </p:sp>
      <p:sp>
        <p:nvSpPr>
          <p:cNvPr id="16" name="Text 12"/>
          <p:cNvSpPr/>
          <p:nvPr/>
        </p:nvSpPr>
        <p:spPr>
          <a:xfrm>
            <a:off x="571500" y="1829637"/>
            <a:ext cx="1628775" cy="378619"/>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A1A1A"/>
                </a:solidFill>
              </a:rPr>
              <a:t>Input Type</a:t>
            </a:r>
            <a:endParaRPr lang="en-US" sz="885" dirty="0"/>
          </a:p>
        </p:txBody>
      </p:sp>
      <p:sp>
        <p:nvSpPr>
          <p:cNvPr id="17" name="Text 13"/>
          <p:cNvSpPr/>
          <p:nvPr/>
        </p:nvSpPr>
        <p:spPr>
          <a:xfrm>
            <a:off x="2200275" y="1829637"/>
            <a:ext cx="2152110" cy="378619"/>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Single 2D Slice</a:t>
            </a:r>
            <a:endParaRPr lang="en-US" sz="942" dirty="0"/>
          </a:p>
        </p:txBody>
      </p:sp>
      <p:sp>
        <p:nvSpPr>
          <p:cNvPr id="18" name="Text 14"/>
          <p:cNvSpPr/>
          <p:nvPr/>
        </p:nvSpPr>
        <p:spPr>
          <a:xfrm>
            <a:off x="4352385" y="1829637"/>
            <a:ext cx="2276289" cy="378619"/>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Stacked Slices (k±1)</a:t>
            </a:r>
            <a:endParaRPr lang="en-US" sz="942" dirty="0"/>
          </a:p>
        </p:txBody>
      </p:sp>
      <p:sp>
        <p:nvSpPr>
          <p:cNvPr id="19" name="Text 15"/>
          <p:cNvSpPr/>
          <p:nvPr/>
        </p:nvSpPr>
        <p:spPr>
          <a:xfrm>
            <a:off x="6628674" y="1829637"/>
            <a:ext cx="1943826" cy="378619"/>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Full 3D Volume</a:t>
            </a:r>
            <a:endParaRPr lang="en-US" sz="942" dirty="0"/>
          </a:p>
        </p:txBody>
      </p:sp>
      <p:sp>
        <p:nvSpPr>
          <p:cNvPr id="20" name="Shape 16"/>
          <p:cNvSpPr/>
          <p:nvPr/>
        </p:nvSpPr>
        <p:spPr>
          <a:xfrm>
            <a:off x="571500" y="2208256"/>
            <a:ext cx="1628775" cy="382191"/>
          </a:xfrm>
          <a:prstGeom prst="rect">
            <a:avLst/>
          </a:prstGeom>
          <a:solidFill>
            <a:srgbClr val="F9F9F9"/>
          </a:solidFill>
          <a:ln/>
        </p:spPr>
        <p:txBody>
          <a:bodyPr/>
          <a:lstStyle/>
          <a:p>
            <a:endParaRPr lang="en-EG"/>
          </a:p>
        </p:txBody>
      </p:sp>
      <p:sp>
        <p:nvSpPr>
          <p:cNvPr id="21" name="Shape 17"/>
          <p:cNvSpPr/>
          <p:nvPr/>
        </p:nvSpPr>
        <p:spPr>
          <a:xfrm>
            <a:off x="571500" y="2583303"/>
            <a:ext cx="1628775" cy="7144"/>
          </a:xfrm>
          <a:prstGeom prst="rect">
            <a:avLst/>
          </a:prstGeom>
          <a:solidFill>
            <a:srgbClr val="E0E0E0"/>
          </a:solidFill>
          <a:ln/>
        </p:spPr>
        <p:txBody>
          <a:bodyPr/>
          <a:lstStyle/>
          <a:p>
            <a:endParaRPr lang="en-EG"/>
          </a:p>
        </p:txBody>
      </p:sp>
      <p:sp>
        <p:nvSpPr>
          <p:cNvPr id="22" name="Text 18"/>
          <p:cNvSpPr/>
          <p:nvPr/>
        </p:nvSpPr>
        <p:spPr>
          <a:xfrm>
            <a:off x="571500" y="2208256"/>
            <a:ext cx="1628775" cy="382191"/>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A1A1A"/>
                </a:solidFill>
              </a:rPr>
              <a:t>Spatial Context</a:t>
            </a:r>
            <a:endParaRPr lang="en-US" sz="885" dirty="0"/>
          </a:p>
        </p:txBody>
      </p:sp>
      <p:sp>
        <p:nvSpPr>
          <p:cNvPr id="23" name="Text 19"/>
          <p:cNvSpPr/>
          <p:nvPr/>
        </p:nvSpPr>
        <p:spPr>
          <a:xfrm>
            <a:off x="2200275" y="2208256"/>
            <a:ext cx="2152110"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Intra-slice only</a:t>
            </a:r>
            <a:endParaRPr lang="en-US" sz="942" dirty="0"/>
          </a:p>
        </p:txBody>
      </p:sp>
      <p:sp>
        <p:nvSpPr>
          <p:cNvPr id="24" name="Text 20"/>
          <p:cNvSpPr/>
          <p:nvPr/>
        </p:nvSpPr>
        <p:spPr>
          <a:xfrm>
            <a:off x="4452398" y="2311840"/>
            <a:ext cx="100838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52CC"/>
                </a:solidFill>
              </a:rPr>
              <a:t>Local inter-slice</a:t>
            </a:r>
            <a:endParaRPr lang="en-US" sz="885" dirty="0"/>
          </a:p>
        </p:txBody>
      </p:sp>
      <p:sp>
        <p:nvSpPr>
          <p:cNvPr id="25" name="Text 21"/>
          <p:cNvSpPr/>
          <p:nvPr/>
        </p:nvSpPr>
        <p:spPr>
          <a:xfrm>
            <a:off x="6728687" y="2311840"/>
            <a:ext cx="965188"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52CC"/>
                </a:solidFill>
              </a:rPr>
              <a:t>Full volumetric</a:t>
            </a:r>
            <a:endParaRPr lang="en-US" sz="885" dirty="0"/>
          </a:p>
        </p:txBody>
      </p:sp>
      <p:sp>
        <p:nvSpPr>
          <p:cNvPr id="26" name="Shape 22"/>
          <p:cNvSpPr/>
          <p:nvPr/>
        </p:nvSpPr>
        <p:spPr>
          <a:xfrm>
            <a:off x="571500" y="2590447"/>
            <a:ext cx="1628775" cy="382191"/>
          </a:xfrm>
          <a:prstGeom prst="rect">
            <a:avLst/>
          </a:prstGeom>
          <a:solidFill>
            <a:srgbClr val="F9F9F9"/>
          </a:solidFill>
          <a:ln/>
        </p:spPr>
        <p:txBody>
          <a:bodyPr/>
          <a:lstStyle/>
          <a:p>
            <a:endParaRPr lang="en-EG"/>
          </a:p>
        </p:txBody>
      </p:sp>
      <p:sp>
        <p:nvSpPr>
          <p:cNvPr id="27" name="Shape 23"/>
          <p:cNvSpPr/>
          <p:nvPr/>
        </p:nvSpPr>
        <p:spPr>
          <a:xfrm>
            <a:off x="571500" y="2965493"/>
            <a:ext cx="1628775" cy="7144"/>
          </a:xfrm>
          <a:prstGeom prst="rect">
            <a:avLst/>
          </a:prstGeom>
          <a:solidFill>
            <a:srgbClr val="E0E0E0"/>
          </a:solidFill>
          <a:ln/>
        </p:spPr>
        <p:txBody>
          <a:bodyPr/>
          <a:lstStyle/>
          <a:p>
            <a:endParaRPr lang="en-EG"/>
          </a:p>
        </p:txBody>
      </p:sp>
      <p:sp>
        <p:nvSpPr>
          <p:cNvPr id="28" name="Text 24"/>
          <p:cNvSpPr/>
          <p:nvPr/>
        </p:nvSpPr>
        <p:spPr>
          <a:xfrm>
            <a:off x="571500" y="2590447"/>
            <a:ext cx="1628775" cy="382191"/>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A1A1A"/>
                </a:solidFill>
              </a:rPr>
              <a:t>Memory Cost</a:t>
            </a:r>
            <a:endParaRPr lang="en-US" sz="885" dirty="0"/>
          </a:p>
        </p:txBody>
      </p:sp>
      <p:sp>
        <p:nvSpPr>
          <p:cNvPr id="29" name="Text 25"/>
          <p:cNvSpPr/>
          <p:nvPr/>
        </p:nvSpPr>
        <p:spPr>
          <a:xfrm>
            <a:off x="2200275" y="2590447"/>
            <a:ext cx="2152110"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Very Low</a:t>
            </a:r>
            <a:endParaRPr lang="en-US" sz="942" dirty="0"/>
          </a:p>
        </p:txBody>
      </p:sp>
      <p:sp>
        <p:nvSpPr>
          <p:cNvPr id="30" name="Text 26"/>
          <p:cNvSpPr/>
          <p:nvPr/>
        </p:nvSpPr>
        <p:spPr>
          <a:xfrm>
            <a:off x="4352385" y="2590447"/>
            <a:ext cx="2276289"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Low to Moderate</a:t>
            </a:r>
            <a:endParaRPr lang="en-US" sz="942" dirty="0"/>
          </a:p>
        </p:txBody>
      </p:sp>
      <p:sp>
        <p:nvSpPr>
          <p:cNvPr id="31" name="Text 27"/>
          <p:cNvSpPr/>
          <p:nvPr/>
        </p:nvSpPr>
        <p:spPr>
          <a:xfrm>
            <a:off x="6628674" y="2590447"/>
            <a:ext cx="1943826"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Very High</a:t>
            </a:r>
            <a:endParaRPr lang="en-US" sz="942" dirty="0"/>
          </a:p>
        </p:txBody>
      </p:sp>
      <p:sp>
        <p:nvSpPr>
          <p:cNvPr id="32" name="Shape 28"/>
          <p:cNvSpPr/>
          <p:nvPr/>
        </p:nvSpPr>
        <p:spPr>
          <a:xfrm>
            <a:off x="571500" y="2972637"/>
            <a:ext cx="1628775" cy="382191"/>
          </a:xfrm>
          <a:prstGeom prst="rect">
            <a:avLst/>
          </a:prstGeom>
          <a:solidFill>
            <a:srgbClr val="F9F9F9"/>
          </a:solidFill>
          <a:ln/>
        </p:spPr>
        <p:txBody>
          <a:bodyPr/>
          <a:lstStyle/>
          <a:p>
            <a:endParaRPr lang="en-EG"/>
          </a:p>
        </p:txBody>
      </p:sp>
      <p:sp>
        <p:nvSpPr>
          <p:cNvPr id="33" name="Shape 29"/>
          <p:cNvSpPr/>
          <p:nvPr/>
        </p:nvSpPr>
        <p:spPr>
          <a:xfrm>
            <a:off x="571500" y="3347684"/>
            <a:ext cx="1628775" cy="7144"/>
          </a:xfrm>
          <a:prstGeom prst="rect">
            <a:avLst/>
          </a:prstGeom>
          <a:solidFill>
            <a:srgbClr val="E0E0E0"/>
          </a:solidFill>
          <a:ln/>
        </p:spPr>
        <p:txBody>
          <a:bodyPr/>
          <a:lstStyle/>
          <a:p>
            <a:endParaRPr lang="en-EG"/>
          </a:p>
        </p:txBody>
      </p:sp>
      <p:sp>
        <p:nvSpPr>
          <p:cNvPr id="34" name="Text 30"/>
          <p:cNvSpPr/>
          <p:nvPr/>
        </p:nvSpPr>
        <p:spPr>
          <a:xfrm>
            <a:off x="571500" y="2972637"/>
            <a:ext cx="1628775" cy="382191"/>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A1A1A"/>
                </a:solidFill>
              </a:rPr>
              <a:t>Training Speed</a:t>
            </a:r>
            <a:endParaRPr lang="en-US" sz="885" dirty="0"/>
          </a:p>
        </p:txBody>
      </p:sp>
      <p:sp>
        <p:nvSpPr>
          <p:cNvPr id="35" name="Text 31"/>
          <p:cNvSpPr/>
          <p:nvPr/>
        </p:nvSpPr>
        <p:spPr>
          <a:xfrm>
            <a:off x="2200275" y="2972637"/>
            <a:ext cx="2152110"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Fastest</a:t>
            </a:r>
            <a:endParaRPr lang="en-US" sz="942" dirty="0"/>
          </a:p>
        </p:txBody>
      </p:sp>
      <p:sp>
        <p:nvSpPr>
          <p:cNvPr id="36" name="Text 32"/>
          <p:cNvSpPr/>
          <p:nvPr/>
        </p:nvSpPr>
        <p:spPr>
          <a:xfrm>
            <a:off x="4352385" y="2972637"/>
            <a:ext cx="2276289"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Fast</a:t>
            </a:r>
            <a:endParaRPr lang="en-US" sz="942" dirty="0"/>
          </a:p>
        </p:txBody>
      </p:sp>
      <p:sp>
        <p:nvSpPr>
          <p:cNvPr id="37" name="Text 33"/>
          <p:cNvSpPr/>
          <p:nvPr/>
        </p:nvSpPr>
        <p:spPr>
          <a:xfrm>
            <a:off x="6628674" y="2972637"/>
            <a:ext cx="1943826" cy="382191"/>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Slow</a:t>
            </a:r>
            <a:endParaRPr lang="en-US" sz="942" dirty="0"/>
          </a:p>
        </p:txBody>
      </p:sp>
      <p:sp>
        <p:nvSpPr>
          <p:cNvPr id="38" name="Shape 34"/>
          <p:cNvSpPr/>
          <p:nvPr/>
        </p:nvSpPr>
        <p:spPr>
          <a:xfrm>
            <a:off x="571500" y="3354828"/>
            <a:ext cx="1628775" cy="378619"/>
          </a:xfrm>
          <a:prstGeom prst="rect">
            <a:avLst/>
          </a:prstGeom>
          <a:solidFill>
            <a:srgbClr val="F9F9F9"/>
          </a:solidFill>
          <a:ln/>
        </p:spPr>
        <p:txBody>
          <a:bodyPr/>
          <a:lstStyle/>
          <a:p>
            <a:endParaRPr lang="en-EG"/>
          </a:p>
        </p:txBody>
      </p:sp>
      <p:sp>
        <p:nvSpPr>
          <p:cNvPr id="39" name="Text 35"/>
          <p:cNvSpPr/>
          <p:nvPr/>
        </p:nvSpPr>
        <p:spPr>
          <a:xfrm>
            <a:off x="571500" y="3354828"/>
            <a:ext cx="1628775" cy="378619"/>
          </a:xfrm>
          <a:prstGeom prst="rect">
            <a:avLst/>
          </a:prstGeom>
          <a:noFill/>
          <a:ln/>
        </p:spPr>
        <p:txBody>
          <a:bodyPr wrap="square" lIns="119126" tIns="119126" rIns="119126" bIns="119126" rtlCol="0" anchor="ctr">
            <a:spAutoFit/>
          </a:bodyPr>
          <a:lstStyle/>
          <a:p>
            <a:pPr marL="0" indent="0" algn="l">
              <a:lnSpc>
                <a:spcPts val="1200"/>
              </a:lnSpc>
              <a:buNone/>
            </a:pPr>
            <a:r>
              <a:rPr lang="en-US" sz="885" b="1" dirty="0">
                <a:solidFill>
                  <a:srgbClr val="1A1A1A"/>
                </a:solidFill>
              </a:rPr>
              <a:t>Best Use Case</a:t>
            </a:r>
            <a:endParaRPr lang="en-US" sz="885" dirty="0"/>
          </a:p>
        </p:txBody>
      </p:sp>
      <p:sp>
        <p:nvSpPr>
          <p:cNvPr id="40" name="Text 36"/>
          <p:cNvSpPr/>
          <p:nvPr/>
        </p:nvSpPr>
        <p:spPr>
          <a:xfrm>
            <a:off x="2200275" y="3354828"/>
            <a:ext cx="2152110" cy="378619"/>
          </a:xfrm>
          <a:prstGeom prst="rect">
            <a:avLst/>
          </a:prstGeom>
          <a:noFill/>
          <a:ln/>
        </p:spPr>
        <p:txBody>
          <a:bodyPr wrap="square" lIns="119126" tIns="119126" rIns="119126" bIns="119126" rtlCol="0" anchor="ctr">
            <a:spAutoFit/>
          </a:bodyPr>
          <a:lstStyle/>
          <a:p>
            <a:pPr marL="0" indent="0" algn="l">
              <a:lnSpc>
                <a:spcPts val="1200"/>
              </a:lnSpc>
              <a:buNone/>
            </a:pPr>
            <a:r>
              <a:rPr lang="en-US" sz="942" dirty="0">
                <a:solidFill>
                  <a:srgbClr val="333333"/>
                </a:solidFill>
              </a:rPr>
              <a:t>Quick Prototyping</a:t>
            </a:r>
            <a:endParaRPr lang="en-US" sz="942" dirty="0"/>
          </a:p>
        </p:txBody>
      </p:sp>
      <p:sp>
        <p:nvSpPr>
          <p:cNvPr id="41" name="Text 37"/>
          <p:cNvSpPr/>
          <p:nvPr/>
        </p:nvSpPr>
        <p:spPr>
          <a:xfrm>
            <a:off x="4452398" y="3458412"/>
            <a:ext cx="116451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52CC"/>
                </a:solidFill>
              </a:rPr>
              <a:t>Resource-efficient</a:t>
            </a:r>
            <a:endParaRPr lang="en-US" sz="885" dirty="0"/>
          </a:p>
        </p:txBody>
      </p:sp>
      <p:sp>
        <p:nvSpPr>
          <p:cNvPr id="42" name="Text 38"/>
          <p:cNvSpPr/>
          <p:nvPr/>
        </p:nvSpPr>
        <p:spPr>
          <a:xfrm>
            <a:off x="6728687" y="3458412"/>
            <a:ext cx="88482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52CC"/>
                </a:solidFill>
              </a:rPr>
              <a:t>Max Accuracy</a:t>
            </a:r>
            <a:endParaRPr lang="en-US" sz="88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Training Strategy Employs Hybrid Loss for Stability</a:t>
            </a:r>
            <a:endParaRPr lang="en-US" sz="1602" dirty="0"/>
          </a:p>
        </p:txBody>
      </p:sp>
      <p:sp>
        <p:nvSpPr>
          <p:cNvPr id="5" name="Text 1"/>
          <p:cNvSpPr/>
          <p:nvPr/>
        </p:nvSpPr>
        <p:spPr>
          <a:xfrm>
            <a:off x="571500" y="171374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Optimization</a:t>
            </a:r>
            <a:endParaRPr lang="en-US" sz="683" dirty="0"/>
          </a:p>
        </p:txBody>
      </p:sp>
      <p:sp>
        <p:nvSpPr>
          <p:cNvPr id="6" name="Text 2"/>
          <p:cNvSpPr/>
          <p:nvPr/>
        </p:nvSpPr>
        <p:spPr>
          <a:xfrm>
            <a:off x="571500" y="2020928"/>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Hybrid Loss Function</a:t>
            </a:r>
            <a:endParaRPr lang="en-US" sz="1193" dirty="0"/>
          </a:p>
        </p:txBody>
      </p:sp>
      <p:sp>
        <p:nvSpPr>
          <p:cNvPr id="7" name="Text 3"/>
          <p:cNvSpPr/>
          <p:nvPr/>
        </p:nvSpPr>
        <p:spPr>
          <a:xfrm>
            <a:off x="571500" y="2383473"/>
            <a:ext cx="371475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We utilize a combination of Dice Loss and Categorical Cross-Entropy. Dice Loss handles the severe class imbalance, while Cross-Entropy ensures smooth gradient flow for pixel-wise classification.</a:t>
            </a:r>
            <a:endParaRPr lang="en-US" sz="942" dirty="0"/>
          </a:p>
        </p:txBody>
      </p:sp>
      <p:sp>
        <p:nvSpPr>
          <p:cNvPr id="8" name="Text 4"/>
          <p:cNvSpPr/>
          <p:nvPr/>
        </p:nvSpPr>
        <p:spPr>
          <a:xfrm>
            <a:off x="571500" y="3377794"/>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Optimizer</a:t>
            </a:r>
            <a:endParaRPr lang="en-US" sz="683" dirty="0"/>
          </a:p>
        </p:txBody>
      </p:sp>
      <p:sp>
        <p:nvSpPr>
          <p:cNvPr id="9" name="Text 5"/>
          <p:cNvSpPr/>
          <p:nvPr/>
        </p:nvSpPr>
        <p:spPr>
          <a:xfrm>
            <a:off x="571500" y="3684975"/>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Adam with Decay</a:t>
            </a:r>
            <a:endParaRPr lang="en-US" sz="1193" dirty="0"/>
          </a:p>
        </p:txBody>
      </p:sp>
      <p:sp>
        <p:nvSpPr>
          <p:cNvPr id="10" name="Text 6"/>
          <p:cNvSpPr/>
          <p:nvPr/>
        </p:nvSpPr>
        <p:spPr>
          <a:xfrm>
            <a:off x="571500" y="4047520"/>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The Adam optimizer is used with an initial learning rate of 0.001. A learning rate scheduler reduces the rate upon plateauing to ensure convergence.</a:t>
            </a:r>
            <a:endParaRPr lang="en-US" sz="942" dirty="0"/>
          </a:p>
        </p:txBody>
      </p:sp>
      <p:sp>
        <p:nvSpPr>
          <p:cNvPr id="11" name="Text 7"/>
          <p:cNvSpPr/>
          <p:nvPr/>
        </p:nvSpPr>
        <p:spPr>
          <a:xfrm>
            <a:off x="4857750" y="171374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Parameters</a:t>
            </a:r>
            <a:endParaRPr lang="en-US" sz="683" dirty="0"/>
          </a:p>
        </p:txBody>
      </p:sp>
      <p:sp>
        <p:nvSpPr>
          <p:cNvPr id="12" name="Text 8"/>
          <p:cNvSpPr/>
          <p:nvPr/>
        </p:nvSpPr>
        <p:spPr>
          <a:xfrm>
            <a:off x="4857750" y="2020928"/>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Training Configuration</a:t>
            </a:r>
            <a:endParaRPr lang="en-US" sz="1193" dirty="0"/>
          </a:p>
        </p:txBody>
      </p:sp>
      <p:sp>
        <p:nvSpPr>
          <p:cNvPr id="13" name="Text 9"/>
          <p:cNvSpPr/>
          <p:nvPr/>
        </p:nvSpPr>
        <p:spPr>
          <a:xfrm>
            <a:off x="4857750" y="2383473"/>
            <a:ext cx="3714750"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 Epochs: 50 - 100
 • Batch Size: 2 (3D) / 16 (2.5D)
 • Validation Split: 20%
 • Early Stopping: Patience of 10</a:t>
            </a:r>
            <a:endParaRPr lang="en-US" sz="942" dirty="0"/>
          </a:p>
        </p:txBody>
      </p:sp>
      <p:sp>
        <p:nvSpPr>
          <p:cNvPr id="14" name="Text 10"/>
          <p:cNvSpPr/>
          <p:nvPr/>
        </p:nvSpPr>
        <p:spPr>
          <a:xfrm>
            <a:off x="4857750" y="3377794"/>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Hardware</a:t>
            </a:r>
            <a:endParaRPr lang="en-US" sz="683" dirty="0"/>
          </a:p>
        </p:txBody>
      </p:sp>
      <p:sp>
        <p:nvSpPr>
          <p:cNvPr id="15" name="Text 11"/>
          <p:cNvSpPr/>
          <p:nvPr/>
        </p:nvSpPr>
        <p:spPr>
          <a:xfrm>
            <a:off x="4857750" y="3684975"/>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Compute Environment</a:t>
            </a:r>
            <a:endParaRPr lang="en-US" sz="1193" dirty="0"/>
          </a:p>
        </p:txBody>
      </p:sp>
      <p:sp>
        <p:nvSpPr>
          <p:cNvPr id="16" name="Text 12"/>
          <p:cNvSpPr/>
          <p:nvPr/>
        </p:nvSpPr>
        <p:spPr>
          <a:xfrm>
            <a:off x="4857750" y="4047520"/>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Models were trained on NVIDIA GPUs using TensorFlow/Keras. 3D models required high-memory instances (A100/V100) for full-volume processing.</a:t>
            </a:r>
            <a:endParaRPr lang="en-US" sz="942"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1835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Results Demonstrate Precise Tumor Boundary Detection</a:t>
            </a:r>
            <a:endParaRPr lang="en-US" sz="1602" dirty="0"/>
          </a:p>
        </p:txBody>
      </p:sp>
      <p:sp>
        <p:nvSpPr>
          <p:cNvPr id="5" name="Text 1"/>
          <p:cNvSpPr/>
          <p:nvPr/>
        </p:nvSpPr>
        <p:spPr>
          <a:xfrm>
            <a:off x="571500" y="1596600"/>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Performance</a:t>
            </a:r>
            <a:endParaRPr lang="en-US" sz="683" dirty="0"/>
          </a:p>
        </p:txBody>
      </p:sp>
      <p:sp>
        <p:nvSpPr>
          <p:cNvPr id="6" name="Text 2"/>
          <p:cNvSpPr/>
          <p:nvPr/>
        </p:nvSpPr>
        <p:spPr>
          <a:xfrm>
            <a:off x="571500" y="1903781"/>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High Dice Similarity</a:t>
            </a:r>
            <a:endParaRPr lang="en-US" sz="1193" dirty="0"/>
          </a:p>
        </p:txBody>
      </p:sp>
      <p:sp>
        <p:nvSpPr>
          <p:cNvPr id="7" name="Text 3"/>
          <p:cNvSpPr/>
          <p:nvPr/>
        </p:nvSpPr>
        <p:spPr>
          <a:xfrm>
            <a:off x="571500" y="2266327"/>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The models achieved strong Dice scores, particularly for the Whole Tumor (WT &gt; 0.85) and Tumor Core (TC &gt; 0.80). Boundary detection is highly consistent with ground truth.</a:t>
            </a:r>
            <a:endParaRPr lang="en-US" sz="942" dirty="0"/>
          </a:p>
        </p:txBody>
      </p:sp>
      <p:sp>
        <p:nvSpPr>
          <p:cNvPr id="8" name="Text 4"/>
          <p:cNvSpPr/>
          <p:nvPr/>
        </p:nvSpPr>
        <p:spPr>
          <a:xfrm>
            <a:off x="571500" y="3274935"/>
            <a:ext cx="329910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Analysis</a:t>
            </a:r>
            <a:endParaRPr lang="en-US" sz="683" dirty="0"/>
          </a:p>
        </p:txBody>
      </p:sp>
      <p:sp>
        <p:nvSpPr>
          <p:cNvPr id="9" name="Text 5"/>
          <p:cNvSpPr/>
          <p:nvPr/>
        </p:nvSpPr>
        <p:spPr>
          <a:xfrm>
            <a:off x="571500" y="3582116"/>
            <a:ext cx="3299101"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Sub-Region Accuracy</a:t>
            </a:r>
            <a:endParaRPr lang="en-US" sz="1193" dirty="0"/>
          </a:p>
        </p:txBody>
      </p:sp>
      <p:sp>
        <p:nvSpPr>
          <p:cNvPr id="10" name="Text 6"/>
          <p:cNvSpPr/>
          <p:nvPr/>
        </p:nvSpPr>
        <p:spPr>
          <a:xfrm>
            <a:off x="571500" y="3944662"/>
            <a:ext cx="329910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Enhancing Tumor (ET) segmentation remains the most challenging due to its small size and irregular shape, yet our hybrid loss approach significantly improved its stability.</a:t>
            </a:r>
            <a:endParaRPr lang="en-US" sz="942" dirty="0"/>
          </a:p>
        </p:txBody>
      </p:sp>
      <p:pic>
        <p:nvPicPr>
          <p:cNvPr id="11" name="Image 1" descr="preencoded.png"/>
          <p:cNvPicPr>
            <a:picLocks noChangeAspect="1"/>
          </p:cNvPicPr>
          <p:nvPr/>
        </p:nvPicPr>
        <p:blipFill>
          <a:blip r:embed="rId4"/>
          <a:stretch>
            <a:fillRect/>
          </a:stretch>
        </p:blipFill>
        <p:spPr>
          <a:xfrm>
            <a:off x="4214143" y="1582313"/>
            <a:ext cx="4300538" cy="2871788"/>
          </a:xfrm>
          <a:prstGeom prst="rect">
            <a:avLst/>
          </a:prstGeom>
        </p:spPr>
      </p:pic>
      <p:sp>
        <p:nvSpPr>
          <p:cNvPr id="12" name="Text 7"/>
          <p:cNvSpPr/>
          <p:nvPr/>
        </p:nvSpPr>
        <p:spPr>
          <a:xfrm>
            <a:off x="4766053" y="4554113"/>
            <a:ext cx="3196717" cy="192881"/>
          </a:xfrm>
          <a:prstGeom prst="rect">
            <a:avLst/>
          </a:prstGeom>
          <a:noFill/>
          <a:ln/>
        </p:spPr>
        <p:txBody>
          <a:bodyPr wrap="square" lIns="0" tIns="68072" rIns="0" bIns="0" rtlCol="0" anchor="t">
            <a:spAutoFit/>
          </a:bodyPr>
          <a:lstStyle/>
          <a:p>
            <a:pPr marL="0" indent="0" algn="ctr">
              <a:lnSpc>
                <a:spcPts val="900"/>
              </a:lnSpc>
              <a:buNone/>
            </a:pPr>
            <a:r>
              <a:rPr lang="en-US" sz="727" dirty="0">
                <a:solidFill>
                  <a:srgbClr val="333333"/>
                </a:solidFill>
              </a:rPr>
              <a:t>Comparison of Ground Truth vs. Model Prediction across modalities.</a:t>
            </a:r>
            <a:endParaRPr lang="en-US" sz="72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4" name="Text 0"/>
          <p:cNvSpPr/>
          <p:nvPr/>
        </p:nvSpPr>
        <p:spPr>
          <a:xfrm>
            <a:off x="628650" y="675503"/>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Automated Pipelines Accelerate Medical AI Workflows</a:t>
            </a:r>
            <a:endParaRPr lang="en-US" sz="1602" dirty="0"/>
          </a:p>
        </p:txBody>
      </p:sp>
      <p:sp>
        <p:nvSpPr>
          <p:cNvPr id="5" name="Text 1"/>
          <p:cNvSpPr/>
          <p:nvPr/>
        </p:nvSpPr>
        <p:spPr>
          <a:xfrm>
            <a:off x="628650" y="1902330"/>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Clinical Impact</a:t>
            </a:r>
            <a:endParaRPr lang="en-US" sz="683" dirty="0"/>
          </a:p>
        </p:txBody>
      </p:sp>
      <p:sp>
        <p:nvSpPr>
          <p:cNvPr id="6" name="Text 2"/>
          <p:cNvSpPr/>
          <p:nvPr/>
        </p:nvSpPr>
        <p:spPr>
          <a:xfrm>
            <a:off x="628650" y="2209512"/>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Reduced Radiologist Workload</a:t>
            </a:r>
            <a:endParaRPr lang="en-US" sz="1193" dirty="0"/>
          </a:p>
        </p:txBody>
      </p:sp>
      <p:sp>
        <p:nvSpPr>
          <p:cNvPr id="7" name="Text 3"/>
          <p:cNvSpPr/>
          <p:nvPr/>
        </p:nvSpPr>
        <p:spPr>
          <a:xfrm>
            <a:off x="628650" y="2572057"/>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Automating the initial segmentation phase allows radiologists to focus on high-level diagnostic interpretation rather than tedious manual contouring.</a:t>
            </a:r>
            <a:endParaRPr lang="en-US" sz="942" dirty="0"/>
          </a:p>
        </p:txBody>
      </p:sp>
      <p:sp>
        <p:nvSpPr>
          <p:cNvPr id="8" name="Text 4"/>
          <p:cNvSpPr/>
          <p:nvPr/>
        </p:nvSpPr>
        <p:spPr>
          <a:xfrm>
            <a:off x="628650" y="337494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Standardization</a:t>
            </a:r>
            <a:endParaRPr lang="en-US" sz="683" dirty="0"/>
          </a:p>
        </p:txBody>
      </p:sp>
      <p:sp>
        <p:nvSpPr>
          <p:cNvPr id="9" name="Text 5"/>
          <p:cNvSpPr/>
          <p:nvPr/>
        </p:nvSpPr>
        <p:spPr>
          <a:xfrm>
            <a:off x="628650" y="3682129"/>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Objective Measurements</a:t>
            </a:r>
            <a:endParaRPr lang="en-US" sz="1193" dirty="0"/>
          </a:p>
        </p:txBody>
      </p:sp>
      <p:sp>
        <p:nvSpPr>
          <p:cNvPr id="10" name="Text 6"/>
          <p:cNvSpPr/>
          <p:nvPr/>
        </p:nvSpPr>
        <p:spPr>
          <a:xfrm>
            <a:off x="628650" y="4044674"/>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AI-driven segmentation provides consistent, reproducible results, eliminating the inter-observer variability common in manual assessments.</a:t>
            </a:r>
            <a:endParaRPr lang="en-US" sz="942" dirty="0"/>
          </a:p>
        </p:txBody>
      </p:sp>
      <p:sp>
        <p:nvSpPr>
          <p:cNvPr id="11" name="Text 7"/>
          <p:cNvSpPr/>
          <p:nvPr/>
        </p:nvSpPr>
        <p:spPr>
          <a:xfrm>
            <a:off x="4914900" y="1902330"/>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Efficiency</a:t>
            </a:r>
            <a:endParaRPr lang="en-US" sz="683" dirty="0"/>
          </a:p>
        </p:txBody>
      </p:sp>
      <p:sp>
        <p:nvSpPr>
          <p:cNvPr id="12" name="Text 8"/>
          <p:cNvSpPr/>
          <p:nvPr/>
        </p:nvSpPr>
        <p:spPr>
          <a:xfrm>
            <a:off x="4914900" y="2209512"/>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Real-Time Support</a:t>
            </a:r>
            <a:endParaRPr lang="en-US" sz="1193" dirty="0"/>
          </a:p>
        </p:txBody>
      </p:sp>
      <p:sp>
        <p:nvSpPr>
          <p:cNvPr id="13" name="Text 9"/>
          <p:cNvSpPr/>
          <p:nvPr/>
        </p:nvSpPr>
        <p:spPr>
          <a:xfrm>
            <a:off x="4914900" y="2572057"/>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With optimized architectures like 2.5D U-Net, segmentation can be performed in seconds, enabling rapid clinical decision-making and surgical planning.</a:t>
            </a:r>
            <a:endParaRPr lang="en-US" sz="942" dirty="0"/>
          </a:p>
        </p:txBody>
      </p:sp>
      <p:sp>
        <p:nvSpPr>
          <p:cNvPr id="14" name="Text 10"/>
          <p:cNvSpPr/>
          <p:nvPr/>
        </p:nvSpPr>
        <p:spPr>
          <a:xfrm>
            <a:off x="4914900" y="337494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Scalability</a:t>
            </a:r>
            <a:endParaRPr lang="en-US" sz="683" dirty="0"/>
          </a:p>
        </p:txBody>
      </p:sp>
      <p:sp>
        <p:nvSpPr>
          <p:cNvPr id="15" name="Text 11"/>
          <p:cNvSpPr/>
          <p:nvPr/>
        </p:nvSpPr>
        <p:spPr>
          <a:xfrm>
            <a:off x="4914900" y="3682129"/>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High-Throughput Analysis</a:t>
            </a:r>
            <a:endParaRPr lang="en-US" sz="1193" dirty="0"/>
          </a:p>
        </p:txBody>
      </p:sp>
      <p:sp>
        <p:nvSpPr>
          <p:cNvPr id="16" name="Text 12"/>
          <p:cNvSpPr/>
          <p:nvPr/>
        </p:nvSpPr>
        <p:spPr>
          <a:xfrm>
            <a:off x="4914900" y="4044674"/>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Automated pipelines can process large-scale datasets for clinical trials and population health studies with minimal human intervention.</a:t>
            </a:r>
            <a:endParaRPr lang="en-US" sz="942"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7372350" cy="312539"/>
          </a:xfrm>
          <a:prstGeom prst="rect">
            <a:avLst/>
          </a:prstGeom>
          <a:noFill/>
          <a:ln/>
        </p:spPr>
        <p:txBody>
          <a:bodyPr wrap="none" lIns="204089" tIns="0" rIns="0" bIns="0" rtlCol="0" anchor="t">
            <a:spAutoFit/>
          </a:bodyPr>
          <a:lstStyle/>
          <a:p>
            <a:pPr marL="0" indent="0" algn="l">
              <a:lnSpc>
                <a:spcPts val="2200"/>
              </a:lnSpc>
              <a:buNone/>
            </a:pPr>
            <a:r>
              <a:rPr lang="en-US" sz="1602" b="1" dirty="0">
                <a:solidFill>
                  <a:srgbClr val="0052CC"/>
                </a:solidFill>
              </a:rPr>
              <a:t>Future Work: Optimization and Clinical Integration</a:t>
            </a:r>
            <a:endParaRPr lang="en-US" sz="1602" dirty="0"/>
          </a:p>
        </p:txBody>
      </p:sp>
      <p:sp>
        <p:nvSpPr>
          <p:cNvPr id="5" name="Text 1"/>
          <p:cNvSpPr/>
          <p:nvPr/>
        </p:nvSpPr>
        <p:spPr>
          <a:xfrm>
            <a:off x="571500" y="1841190"/>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Optimization</a:t>
            </a:r>
            <a:endParaRPr lang="en-US" sz="683" dirty="0"/>
          </a:p>
        </p:txBody>
      </p:sp>
      <p:sp>
        <p:nvSpPr>
          <p:cNvPr id="6" name="Text 2"/>
          <p:cNvSpPr/>
          <p:nvPr/>
        </p:nvSpPr>
        <p:spPr>
          <a:xfrm>
            <a:off x="571500" y="2019784"/>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Advanced Architectures</a:t>
            </a:r>
            <a:endParaRPr lang="en-US" sz="1193" dirty="0"/>
          </a:p>
        </p:txBody>
      </p:sp>
      <p:sp>
        <p:nvSpPr>
          <p:cNvPr id="7" name="Text 3"/>
          <p:cNvSpPr/>
          <p:nvPr/>
        </p:nvSpPr>
        <p:spPr>
          <a:xfrm>
            <a:off x="571500" y="2310892"/>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Implementing Attention Mechanisms and Transformer-based encoders (Swin UNETR) to better capture long-range spatial dependencies in 3D volumes.</a:t>
            </a:r>
            <a:endParaRPr lang="en-US" sz="942" dirty="0"/>
          </a:p>
        </p:txBody>
      </p:sp>
      <p:sp>
        <p:nvSpPr>
          <p:cNvPr id="8" name="Text 4"/>
          <p:cNvSpPr/>
          <p:nvPr/>
        </p:nvSpPr>
        <p:spPr>
          <a:xfrm>
            <a:off x="571500" y="308520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Robustness</a:t>
            </a:r>
            <a:endParaRPr lang="en-US" sz="683" dirty="0"/>
          </a:p>
        </p:txBody>
      </p:sp>
      <p:sp>
        <p:nvSpPr>
          <p:cNvPr id="9" name="Text 5"/>
          <p:cNvSpPr/>
          <p:nvPr/>
        </p:nvSpPr>
        <p:spPr>
          <a:xfrm>
            <a:off x="571500" y="3263801"/>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Ensemble Methods</a:t>
            </a:r>
            <a:endParaRPr lang="en-US" sz="1193" dirty="0"/>
          </a:p>
        </p:txBody>
      </p:sp>
      <p:sp>
        <p:nvSpPr>
          <p:cNvPr id="10" name="Text 6"/>
          <p:cNvSpPr/>
          <p:nvPr/>
        </p:nvSpPr>
        <p:spPr>
          <a:xfrm>
            <a:off x="571500" y="3554909"/>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Combining predictions from multiple 2.5D and 3D models to reduce variance and improve overall segmentation reliability across diverse patient cases.</a:t>
            </a:r>
            <a:endParaRPr lang="en-US" sz="942" dirty="0"/>
          </a:p>
        </p:txBody>
      </p:sp>
      <p:sp>
        <p:nvSpPr>
          <p:cNvPr id="11" name="Text 7"/>
          <p:cNvSpPr/>
          <p:nvPr/>
        </p:nvSpPr>
        <p:spPr>
          <a:xfrm>
            <a:off x="4857750" y="1841190"/>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Deployment</a:t>
            </a:r>
            <a:endParaRPr lang="en-US" sz="683" dirty="0"/>
          </a:p>
        </p:txBody>
      </p:sp>
      <p:sp>
        <p:nvSpPr>
          <p:cNvPr id="12" name="Text 8"/>
          <p:cNvSpPr/>
          <p:nvPr/>
        </p:nvSpPr>
        <p:spPr>
          <a:xfrm>
            <a:off x="4857750" y="2019784"/>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Clinical Integration</a:t>
            </a:r>
            <a:endParaRPr lang="en-US" sz="1193" dirty="0"/>
          </a:p>
        </p:txBody>
      </p:sp>
      <p:sp>
        <p:nvSpPr>
          <p:cNvPr id="13" name="Text 9"/>
          <p:cNvSpPr/>
          <p:nvPr/>
        </p:nvSpPr>
        <p:spPr>
          <a:xfrm>
            <a:off x="4857750" y="2310892"/>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Developing a user-friendly interface for radiologists to review and refine AI-generated segmentations, facilitating seamless integration into existing hospital PACS.</a:t>
            </a:r>
            <a:endParaRPr lang="en-US" sz="942" dirty="0"/>
          </a:p>
        </p:txBody>
      </p:sp>
      <p:sp>
        <p:nvSpPr>
          <p:cNvPr id="14" name="Text 10"/>
          <p:cNvSpPr/>
          <p:nvPr/>
        </p:nvSpPr>
        <p:spPr>
          <a:xfrm>
            <a:off x="4857750" y="3085207"/>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rPr>
              <a:t>Expansion</a:t>
            </a:r>
            <a:endParaRPr lang="en-US" sz="683" dirty="0"/>
          </a:p>
        </p:txBody>
      </p:sp>
      <p:sp>
        <p:nvSpPr>
          <p:cNvPr id="15" name="Text 11"/>
          <p:cNvSpPr/>
          <p:nvPr/>
        </p:nvSpPr>
        <p:spPr>
          <a:xfrm>
            <a:off x="4857750" y="3263801"/>
            <a:ext cx="37147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Multi-Disease Support</a:t>
            </a:r>
            <a:endParaRPr lang="en-US" sz="1193" dirty="0"/>
          </a:p>
        </p:txBody>
      </p:sp>
      <p:sp>
        <p:nvSpPr>
          <p:cNvPr id="16" name="Text 12"/>
          <p:cNvSpPr/>
          <p:nvPr/>
        </p:nvSpPr>
        <p:spPr>
          <a:xfrm>
            <a:off x="4857750" y="3554909"/>
            <a:ext cx="371475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Expanding the pipeline to support other neurological conditions, such as multiple sclerosis lesions and stroke-related tissue damage.</a:t>
            </a:r>
            <a:endParaRPr lang="en-US" sz="942"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078370" y="1354968"/>
            <a:ext cx="2987232" cy="778669"/>
          </a:xfrm>
          <a:prstGeom prst="rect">
            <a:avLst/>
          </a:prstGeom>
          <a:noFill/>
          <a:ln/>
        </p:spPr>
        <p:txBody>
          <a:bodyPr wrap="none" lIns="0" tIns="0" rIns="0" bIns="0" rtlCol="0" anchor="t">
            <a:spAutoFit/>
          </a:bodyPr>
          <a:lstStyle/>
          <a:p>
            <a:pPr marL="0" indent="0" algn="l">
              <a:lnSpc>
                <a:spcPts val="5400"/>
              </a:lnSpc>
              <a:buNone/>
            </a:pPr>
            <a:r>
              <a:rPr lang="en-US" sz="4145" b="1" dirty="0">
                <a:solidFill>
                  <a:srgbClr val="FFFFFF"/>
                </a:solidFill>
              </a:rPr>
              <a:t>Thank You</a:t>
            </a:r>
            <a:endParaRPr lang="en-US" sz="4145" dirty="0"/>
          </a:p>
        </p:txBody>
      </p:sp>
      <p:sp>
        <p:nvSpPr>
          <p:cNvPr id="5" name="Text 1"/>
          <p:cNvSpPr/>
          <p:nvPr/>
        </p:nvSpPr>
        <p:spPr>
          <a:xfrm>
            <a:off x="3312523" y="2533687"/>
            <a:ext cx="2518953" cy="312539"/>
          </a:xfrm>
          <a:prstGeom prst="rect">
            <a:avLst/>
          </a:prstGeom>
          <a:noFill/>
          <a:ln/>
        </p:spPr>
        <p:txBody>
          <a:bodyPr wrap="none" lIns="0" tIns="0" rIns="0" bIns="0" rtlCol="0" anchor="t">
            <a:spAutoFit/>
          </a:bodyPr>
          <a:lstStyle/>
          <a:p>
            <a:pPr marL="0" indent="0" algn="l">
              <a:lnSpc>
                <a:spcPts val="2200"/>
              </a:lnSpc>
              <a:buNone/>
            </a:pPr>
            <a:r>
              <a:rPr lang="en-US" sz="1704" dirty="0">
                <a:solidFill>
                  <a:srgbClr val="0052CC"/>
                </a:solidFill>
              </a:rPr>
              <a:t>Questions &amp; Discussion</a:t>
            </a:r>
            <a:endParaRPr lang="en-US" sz="1704" dirty="0"/>
          </a:p>
        </p:txBody>
      </p:sp>
      <p:sp>
        <p:nvSpPr>
          <p:cNvPr id="6" name="Text 2"/>
          <p:cNvSpPr/>
          <p:nvPr/>
        </p:nvSpPr>
        <p:spPr>
          <a:xfrm>
            <a:off x="3051665" y="3424870"/>
            <a:ext cx="3040670" cy="175022"/>
          </a:xfrm>
          <a:prstGeom prst="rect">
            <a:avLst/>
          </a:prstGeom>
          <a:noFill/>
          <a:ln/>
        </p:spPr>
        <p:txBody>
          <a:bodyPr wrap="none" lIns="0" tIns="0" rIns="0" bIns="0" rtlCol="0" anchor="t">
            <a:spAutoFit/>
          </a:bodyPr>
          <a:lstStyle/>
          <a:p>
            <a:pPr marL="0" indent="0" algn="ctr">
              <a:lnSpc>
                <a:spcPts val="1200"/>
              </a:lnSpc>
              <a:buNone/>
            </a:pPr>
            <a:r>
              <a:rPr lang="en-US" sz="885" b="1" kern="0" spc="2" dirty="0">
                <a:solidFill>
                  <a:srgbClr val="FF4D4D"/>
                </a:solidFill>
              </a:rPr>
              <a:t>Presented by</a:t>
            </a:r>
            <a:endParaRPr lang="en-US" sz="885" dirty="0"/>
          </a:p>
        </p:txBody>
      </p:sp>
      <p:sp>
        <p:nvSpPr>
          <p:cNvPr id="7" name="Text 3"/>
          <p:cNvSpPr/>
          <p:nvPr/>
        </p:nvSpPr>
        <p:spPr>
          <a:xfrm>
            <a:off x="3051665" y="3714192"/>
            <a:ext cx="3040670" cy="901144"/>
          </a:xfrm>
          <a:prstGeom prst="rect">
            <a:avLst/>
          </a:prstGeom>
          <a:noFill/>
          <a:ln/>
        </p:spPr>
        <p:txBody>
          <a:bodyPr wrap="square" lIns="0" tIns="0" rIns="0" bIns="0" rtlCol="0" anchor="t">
            <a:spAutoFit/>
          </a:bodyPr>
          <a:lstStyle/>
          <a:p>
            <a:pPr marL="0" indent="0" algn="ctr">
              <a:lnSpc>
                <a:spcPts val="1800"/>
              </a:lnSpc>
              <a:buNone/>
            </a:pPr>
            <a:r>
              <a:rPr lang="en-US" sz="1050" dirty="0">
                <a:solidFill>
                  <a:srgbClr val="CCCCCC"/>
                </a:solidFill>
              </a:rPr>
              <a:t>Malak Osama • Dolagy George • Alya Marwan
 Nada Mohammed • Ashar Salama</a:t>
            </a:r>
          </a:p>
          <a:p>
            <a:pPr algn="ctr">
              <a:lnSpc>
                <a:spcPts val="1800"/>
              </a:lnSpc>
            </a:pPr>
            <a:r>
              <a:rPr lang="en-US" sz="1050" dirty="0">
                <a:solidFill>
                  <a:srgbClr val="FF0000"/>
                </a:solidFill>
              </a:rPr>
              <a:t>https://ai-hackathon-hocdthfhwx6ncrw2dbgysk.streamlit.app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2822</Words>
  <Application>Microsoft Macintosh PowerPoint</Application>
  <PresentationFormat>On-screen Show (16:9)</PresentationFormat>
  <Paragraphs>218</Paragraphs>
  <Slides>19</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Alya Marwan Mohamed Nabil Kamel Emara</cp:lastModifiedBy>
  <cp:revision>9</cp:revision>
  <dcterms:created xsi:type="dcterms:W3CDTF">2026-02-04T10:23:31Z</dcterms:created>
  <dcterms:modified xsi:type="dcterms:W3CDTF">2026-02-04T13:28:06Z</dcterms:modified>
</cp:coreProperties>
</file>